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41" r:id="rId1"/>
  </p:sldMasterIdLst>
  <p:sldIdLst>
    <p:sldId id="259" r:id="rId2"/>
    <p:sldId id="258" r:id="rId3"/>
    <p:sldId id="260" r:id="rId4"/>
    <p:sldId id="261" r:id="rId5"/>
    <p:sldId id="263" r:id="rId6"/>
    <p:sldId id="262" r:id="rId7"/>
    <p:sldId id="264" r:id="rId8"/>
    <p:sldId id="266" r:id="rId9"/>
    <p:sldId id="265" r:id="rId10"/>
    <p:sldId id="267" r:id="rId11"/>
    <p:sldId id="278" r:id="rId12"/>
    <p:sldId id="269" r:id="rId13"/>
    <p:sldId id="277" r:id="rId14"/>
    <p:sldId id="281" r:id="rId15"/>
    <p:sldId id="280" r:id="rId16"/>
    <p:sldId id="279" r:id="rId17"/>
    <p:sldId id="275" r:id="rId18"/>
    <p:sldId id="27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A147"/>
    <a:srgbClr val="B54C2D"/>
    <a:srgbClr val="B66952"/>
    <a:srgbClr val="B56D45"/>
    <a:srgbClr val="DF98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rvi\Desktop\Zomato%20Restaurant%20Analysis\Zomato_Data_Urvi.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Urvi\Desktop\Zomato_Data_Urvi.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Urvi\Desktop\Zomato_Data_Urvi.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Urvi\Desktop\Zomato_Data_Urvi.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Urvi\Desktop\Zomato_Data_Urvi.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Urvi\Desktop\Zomato_Data_Urvi.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Urvi\Desktop\Zomato_Data_Urvi.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Urvi\Desktop\Zomato_Data_Urvi.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[Zomato_Data_Urvi.xlsx]Subjective!PivotTable12</c:name>
    <c:fmtId val="16"/>
  </c:pivotSource>
  <c:chart>
    <c:autoTitleDeleted val="1"/>
    <c:pivotFmts>
      <c:pivotFmt>
        <c:idx val="0"/>
        <c:dLbl>
          <c:idx val="0"/>
          <c:showLegendKey val="0"/>
          <c:showVal val="1"/>
          <c:showCatName val="0"/>
          <c:showSerName val="0"/>
          <c:showPercent val="0"/>
          <c:showBubbleSize val="0"/>
          <c:extLst>
            <c:ext xmlns:c15="http://schemas.microsoft.com/office/drawing/2012/chart" uri="{CE6537A1-D6FC-4f65-9D91-7224C49458BB}"/>
          </c:extLst>
        </c:dLbl>
      </c:pivotFmt>
      <c:pivotFmt>
        <c:idx val="1"/>
        <c:dLbl>
          <c:idx val="0"/>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Subjective!$AA$3</c:f>
              <c:strCache>
                <c:ptCount val="1"/>
                <c:pt idx="0">
                  <c:v>Total</c:v>
                </c:pt>
              </c:strCache>
            </c:strRef>
          </c:tx>
          <c:spPr>
            <a:solidFill>
              <a:schemeClr val="accent1"/>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Subjective!$Z$4:$Z$13</c:f>
              <c:strCache>
                <c:ptCount val="9"/>
                <c:pt idx="0">
                  <c:v>2010</c:v>
                </c:pt>
                <c:pt idx="1">
                  <c:v>2011</c:v>
                </c:pt>
                <c:pt idx="2">
                  <c:v>2012</c:v>
                </c:pt>
                <c:pt idx="3">
                  <c:v>2013</c:v>
                </c:pt>
                <c:pt idx="4">
                  <c:v>2014</c:v>
                </c:pt>
                <c:pt idx="5">
                  <c:v>2015</c:v>
                </c:pt>
                <c:pt idx="6">
                  <c:v>2016</c:v>
                </c:pt>
                <c:pt idx="7">
                  <c:v>2017</c:v>
                </c:pt>
                <c:pt idx="8">
                  <c:v>2018</c:v>
                </c:pt>
              </c:strCache>
            </c:strRef>
          </c:cat>
          <c:val>
            <c:numRef>
              <c:f>Subjective!$AA$4:$AA$13</c:f>
              <c:numCache>
                <c:formatCode>General</c:formatCode>
                <c:ptCount val="9"/>
                <c:pt idx="0">
                  <c:v>1080</c:v>
                </c:pt>
                <c:pt idx="1">
                  <c:v>1098</c:v>
                </c:pt>
                <c:pt idx="2">
                  <c:v>1022</c:v>
                </c:pt>
                <c:pt idx="3">
                  <c:v>1061</c:v>
                </c:pt>
                <c:pt idx="4">
                  <c:v>1051</c:v>
                </c:pt>
                <c:pt idx="5">
                  <c:v>1024</c:v>
                </c:pt>
                <c:pt idx="6">
                  <c:v>1027</c:v>
                </c:pt>
                <c:pt idx="7">
                  <c:v>1086</c:v>
                </c:pt>
                <c:pt idx="8">
                  <c:v>1102</c:v>
                </c:pt>
              </c:numCache>
            </c:numRef>
          </c:val>
          <c:extLst>
            <c:ext xmlns:c16="http://schemas.microsoft.com/office/drawing/2014/chart" uri="{C3380CC4-5D6E-409C-BE32-E72D297353CC}">
              <c16:uniqueId val="{00000000-07D3-4640-A9B4-CBF41A828F33}"/>
            </c:ext>
          </c:extLst>
        </c:ser>
        <c:dLbls>
          <c:showLegendKey val="0"/>
          <c:showVal val="1"/>
          <c:showCatName val="0"/>
          <c:showSerName val="0"/>
          <c:showPercent val="0"/>
          <c:showBubbleSize val="0"/>
        </c:dLbls>
        <c:gapWidth val="150"/>
        <c:shape val="box"/>
        <c:axId val="1063100207"/>
        <c:axId val="2016484303"/>
        <c:axId val="0"/>
      </c:bar3DChart>
      <c:catAx>
        <c:axId val="1063100207"/>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16484303"/>
        <c:crosses val="autoZero"/>
        <c:auto val="1"/>
        <c:lblAlgn val="ctr"/>
        <c:lblOffset val="100"/>
        <c:noMultiLvlLbl val="0"/>
      </c:catAx>
      <c:valAx>
        <c:axId val="201648430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6310020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[Zomato_Data_Urvi.xlsx]Pivot Table!PivotTable1</c:name>
    <c:fmtId val="10"/>
  </c:pivotSource>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n-US" sz="1200" dirty="0"/>
              <a:t>No. Of Restaurants Per Country</a:t>
            </a:r>
          </a:p>
        </c:rich>
      </c:tx>
      <c:layout>
        <c:manualLayout>
          <c:xMode val="edge"/>
          <c:yMode val="edge"/>
          <c:x val="0.3387069657529922"/>
          <c:y val="4.6783625730994149E-2"/>
        </c:manualLayout>
      </c:layout>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4">
              <a:lumMod val="40000"/>
              <a:lumOff val="60000"/>
            </a:schemeClr>
          </a:soli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4">
              <a:lumMod val="40000"/>
              <a:lumOff val="60000"/>
            </a:schemeClr>
          </a:soli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4">
              <a:lumMod val="40000"/>
              <a:lumOff val="60000"/>
            </a:schemeClr>
          </a:soli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Table'!$B$2</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'Pivot Table'!$A$3:$A$18</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'Pivot Table'!$B$3:$B$18</c:f>
              <c:numCache>
                <c:formatCode>General</c:formatCode>
                <c:ptCount val="15"/>
                <c:pt idx="0">
                  <c:v>24</c:v>
                </c:pt>
                <c:pt idx="1">
                  <c:v>60</c:v>
                </c:pt>
                <c:pt idx="2">
                  <c:v>4</c:v>
                </c:pt>
                <c:pt idx="3">
                  <c:v>8652</c:v>
                </c:pt>
                <c:pt idx="4">
                  <c:v>21</c:v>
                </c:pt>
                <c:pt idx="5">
                  <c:v>40</c:v>
                </c:pt>
                <c:pt idx="6">
                  <c:v>22</c:v>
                </c:pt>
                <c:pt idx="7">
                  <c:v>20</c:v>
                </c:pt>
                <c:pt idx="8">
                  <c:v>20</c:v>
                </c:pt>
                <c:pt idx="9">
                  <c:v>60</c:v>
                </c:pt>
                <c:pt idx="10">
                  <c:v>20</c:v>
                </c:pt>
                <c:pt idx="11">
                  <c:v>34</c:v>
                </c:pt>
                <c:pt idx="12">
                  <c:v>60</c:v>
                </c:pt>
                <c:pt idx="13">
                  <c:v>80</c:v>
                </c:pt>
                <c:pt idx="14">
                  <c:v>434</c:v>
                </c:pt>
              </c:numCache>
            </c:numRef>
          </c:val>
          <c:extLst>
            <c:ext xmlns:c16="http://schemas.microsoft.com/office/drawing/2014/chart" uri="{C3380CC4-5D6E-409C-BE32-E72D297353CC}">
              <c16:uniqueId val="{00000000-F73D-4768-9432-9911A37D4576}"/>
            </c:ext>
          </c:extLst>
        </c:ser>
        <c:dLbls>
          <c:dLblPos val="outEnd"/>
          <c:showLegendKey val="0"/>
          <c:showVal val="1"/>
          <c:showCatName val="0"/>
          <c:showSerName val="0"/>
          <c:showPercent val="0"/>
          <c:showBubbleSize val="0"/>
        </c:dLbls>
        <c:gapWidth val="100"/>
        <c:overlap val="-24"/>
        <c:axId val="795756944"/>
        <c:axId val="795755984"/>
      </c:barChart>
      <c:catAx>
        <c:axId val="795756944"/>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795755984"/>
        <c:crosses val="autoZero"/>
        <c:auto val="1"/>
        <c:lblAlgn val="ctr"/>
        <c:lblOffset val="100"/>
        <c:noMultiLvlLbl val="0"/>
      </c:catAx>
      <c:valAx>
        <c:axId val="795755984"/>
        <c:scaling>
          <c:logBase val="10"/>
          <c:orientation val="minMax"/>
          <c:min val="1"/>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79575694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[Zomato_Data_Urvi.xlsx]Subjective!PivotTable24</c:name>
    <c:fmtId val="7"/>
  </c:pivotSource>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Average Votes Per Country</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dLbl>
          <c:idx val="0"/>
          <c:dLblPos val="t"/>
          <c:showLegendKey val="0"/>
          <c:showVal val="1"/>
          <c:showCatName val="0"/>
          <c:showSerName val="0"/>
          <c:showPercent val="0"/>
          <c:showBubbleSize val="0"/>
          <c:extLst>
            <c:ext xmlns:c15="http://schemas.microsoft.com/office/drawing/2012/chart" uri="{CE6537A1-D6FC-4f65-9D91-7224C49458BB}"/>
          </c:extLst>
        </c:dLbl>
      </c:pivotFmt>
      <c:pivotFmt>
        <c:idx val="1"/>
        <c:dLbl>
          <c:idx val="0"/>
          <c:dLblPos val="t"/>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tint val="98000"/>
                  <a:hueMod val="94000"/>
                  <a:satMod val="130000"/>
                  <a:lumMod val="128000"/>
                </a:schemeClr>
              </a:gs>
              <a:gs pos="100000">
                <a:schemeClr val="accent1">
                  <a:shade val="94000"/>
                  <a:lumMod val="8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Subjective!$AI$1</c:f>
              <c:strCache>
                <c:ptCount val="1"/>
                <c:pt idx="0">
                  <c:v>Total</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Subjective!$AH$2:$AH$17</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Subjective!$AI$2:$AI$17</c:f>
              <c:numCache>
                <c:formatCode>0;[Red]0</c:formatCode>
                <c:ptCount val="15"/>
                <c:pt idx="0">
                  <c:v>111.41666666666667</c:v>
                </c:pt>
                <c:pt idx="1">
                  <c:v>19.616666666666667</c:v>
                </c:pt>
                <c:pt idx="2">
                  <c:v>103</c:v>
                </c:pt>
                <c:pt idx="3">
                  <c:v>137.21255201109571</c:v>
                </c:pt>
                <c:pt idx="4">
                  <c:v>772.09523809523807</c:v>
                </c:pt>
                <c:pt idx="5">
                  <c:v>243.02500000000001</c:v>
                </c:pt>
                <c:pt idx="6">
                  <c:v>407.40909090909093</c:v>
                </c:pt>
                <c:pt idx="7">
                  <c:v>163.80000000000001</c:v>
                </c:pt>
                <c:pt idx="8">
                  <c:v>31.9</c:v>
                </c:pt>
                <c:pt idx="9">
                  <c:v>315.16666666666669</c:v>
                </c:pt>
                <c:pt idx="10">
                  <c:v>146.44999999999999</c:v>
                </c:pt>
                <c:pt idx="11">
                  <c:v>431.47058823529414</c:v>
                </c:pt>
                <c:pt idx="12">
                  <c:v>493.51666666666665</c:v>
                </c:pt>
                <c:pt idx="13">
                  <c:v>205.48750000000001</c:v>
                </c:pt>
                <c:pt idx="14">
                  <c:v>428.22119815668202</c:v>
                </c:pt>
              </c:numCache>
            </c:numRef>
          </c:val>
          <c:smooth val="0"/>
          <c:extLst>
            <c:ext xmlns:c16="http://schemas.microsoft.com/office/drawing/2014/chart" uri="{C3380CC4-5D6E-409C-BE32-E72D297353CC}">
              <c16:uniqueId val="{00000000-056A-41F8-89E2-5E3EE4060223}"/>
            </c:ext>
          </c:extLst>
        </c:ser>
        <c:dLbls>
          <c:dLblPos val="t"/>
          <c:showLegendKey val="0"/>
          <c:showVal val="1"/>
          <c:showCatName val="0"/>
          <c:showSerName val="0"/>
          <c:showPercent val="0"/>
          <c:showBubbleSize val="0"/>
        </c:dLbls>
        <c:smooth val="0"/>
        <c:axId val="1975642335"/>
        <c:axId val="1975642815"/>
      </c:lineChart>
      <c:catAx>
        <c:axId val="19756423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75642815"/>
        <c:crosses val="autoZero"/>
        <c:auto val="1"/>
        <c:lblAlgn val="ctr"/>
        <c:lblOffset val="100"/>
        <c:noMultiLvlLbl val="0"/>
      </c:catAx>
      <c:valAx>
        <c:axId val="1975642815"/>
        <c:scaling>
          <c:orientation val="minMax"/>
        </c:scaling>
        <c:delete val="0"/>
        <c:axPos val="l"/>
        <c:majorGridlines>
          <c:spPr>
            <a:ln w="9525" cap="flat" cmpd="sng" algn="ctr">
              <a:solidFill>
                <a:schemeClr val="tx1">
                  <a:lumMod val="15000"/>
                  <a:lumOff val="85000"/>
                </a:schemeClr>
              </a:solidFill>
              <a:round/>
            </a:ln>
            <a:effectLst/>
          </c:spPr>
        </c:majorGridlines>
        <c:numFmt formatCode="0;[Red]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7564233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[Zomato_Data_Urvi.xlsx]Subjective!PivotTable2</c:name>
    <c:fmtId val="21"/>
  </c:pivotSource>
  <c:chart>
    <c:autoTitleDeleted val="1"/>
    <c:pivotFmts>
      <c:pivotFmt>
        <c:idx val="0"/>
        <c:spPr>
          <a:solidFill>
            <a:schemeClr val="accent1">
              <a:alpha val="88000"/>
            </a:schemeClr>
          </a:solidFill>
          <a:ln w="9525" cap="flat" cmpd="sng" algn="ctr">
            <a:solidFill>
              <a:schemeClr val="accent1">
                <a:lumMod val="50000"/>
              </a:schemeClr>
            </a:solidFill>
            <a:round/>
          </a:ln>
          <a:effectLst/>
          <a:scene3d>
            <a:camera prst="orthographicFront"/>
            <a:lightRig rig="threePt" dir="t"/>
          </a:scene3d>
          <a:sp3d prstMaterial="flat">
            <a:contourClr>
              <a:schemeClr val="accent1">
                <a:lumMod val="50000"/>
              </a:schemeClr>
            </a:contourClr>
          </a:sp3d>
        </c:spPr>
        <c:marker>
          <c:symbol val="circle"/>
          <c:size val="6"/>
          <c:spPr>
            <a:solidFill>
              <a:schemeClr val="accent1"/>
            </a:solidFill>
            <a:ln w="9525">
              <a:solidFill>
                <a:schemeClr val="dk1">
                  <a:lumMod val="75000"/>
                  <a:lumOff val="25000"/>
                </a:schemeClr>
              </a:solidFill>
            </a:ln>
            <a:effectLst/>
          </c:spPr>
        </c:marker>
        <c:dLbl>
          <c:idx val="0"/>
          <c:spPr>
            <a:solidFill>
              <a:srgbClr val="4472C4">
                <a:alpha val="30000"/>
              </a:srgbClr>
            </a:solidFill>
            <a:ln>
              <a:solidFill>
                <a:sysClr val="window" lastClr="FFFFFF">
                  <a:alpha val="50000"/>
                </a:sysClr>
              </a:solidFill>
              <a:round/>
            </a:ln>
            <a:effectLst>
              <a:outerShdw blurRad="63500" dist="889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alpha val="88000"/>
            </a:schemeClr>
          </a:solidFill>
          <a:ln w="9525" cap="flat" cmpd="sng" algn="ctr">
            <a:solidFill>
              <a:schemeClr val="accent1">
                <a:lumMod val="50000"/>
              </a:schemeClr>
            </a:solidFill>
            <a:round/>
          </a:ln>
          <a:effectLst/>
          <a:scene3d>
            <a:camera prst="orthographicFront"/>
            <a:lightRig rig="threePt" dir="t"/>
          </a:scene3d>
          <a:sp3d prstMaterial="flat">
            <a:contourClr>
              <a:schemeClr val="accent1">
                <a:lumMod val="50000"/>
              </a:schemeClr>
            </a:contourClr>
          </a:sp3d>
        </c:spPr>
        <c:marker>
          <c:symbol val="none"/>
        </c:marker>
        <c:dLbl>
          <c:idx val="0"/>
          <c:spPr>
            <a:solidFill>
              <a:srgbClr val="4472C4">
                <a:alpha val="30000"/>
              </a:srgbClr>
            </a:solidFill>
            <a:ln>
              <a:solidFill>
                <a:sysClr val="window" lastClr="FFFFFF">
                  <a:alpha val="50000"/>
                </a:sysClr>
              </a:solidFill>
              <a:round/>
            </a:ln>
            <a:effectLst>
              <a:outerShdw blurRad="63500" dist="889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alpha val="88000"/>
            </a:schemeClr>
          </a:solidFill>
          <a:ln w="9525" cap="flat" cmpd="sng" algn="ctr">
            <a:solidFill>
              <a:schemeClr val="accent1">
                <a:lumMod val="50000"/>
              </a:schemeClr>
            </a:solidFill>
            <a:round/>
          </a:ln>
          <a:effectLst/>
          <a:scene3d>
            <a:camera prst="orthographicFront"/>
            <a:lightRig rig="threePt" dir="t"/>
          </a:scene3d>
          <a:sp3d prstMaterial="flat">
            <a:contourClr>
              <a:schemeClr val="accent1">
                <a:lumMod val="50000"/>
              </a:schemeClr>
            </a:contourClr>
          </a:sp3d>
        </c:spPr>
        <c:marker>
          <c:symbol val="none"/>
        </c:marker>
        <c:dLbl>
          <c:idx val="0"/>
          <c:spPr>
            <a:solidFill>
              <a:srgbClr val="4472C4">
                <a:alpha val="30000"/>
              </a:srgbClr>
            </a:solidFill>
            <a:ln>
              <a:solidFill>
                <a:sysClr val="window" lastClr="FFFFFF">
                  <a:alpha val="50000"/>
                </a:sysClr>
              </a:solidFill>
              <a:round/>
            </a:ln>
            <a:effectLst>
              <a:outerShdw blurRad="63500" dist="889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2">
              <a:lumMod val="40000"/>
              <a:lumOff val="60000"/>
              <a:alpha val="88000"/>
            </a:schemeClr>
          </a:solidFill>
          <a:ln w="9525" cap="flat" cmpd="sng" algn="ctr">
            <a:solidFill>
              <a:schemeClr val="accent1">
                <a:lumMod val="50000"/>
              </a:schemeClr>
            </a:solidFill>
            <a:round/>
          </a:ln>
          <a:effectLst/>
          <a:scene3d>
            <a:camera prst="orthographicFront"/>
            <a:lightRig rig="threePt" dir="t"/>
          </a:scene3d>
          <a:sp3d prstMaterial="flat">
            <a:contourClr>
              <a:schemeClr val="accent1">
                <a:lumMod val="50000"/>
              </a:schemeClr>
            </a:contourClr>
          </a:sp3d>
        </c:spPr>
        <c:marker>
          <c:symbol val="none"/>
        </c:marker>
        <c:dLbl>
          <c:idx val="0"/>
          <c:spPr>
            <a:solidFill>
              <a:srgbClr val="4472C4">
                <a:alpha val="30000"/>
              </a:srgbClr>
            </a:solidFill>
            <a:ln>
              <a:solidFill>
                <a:sysClr val="window" lastClr="FFFFFF">
                  <a:alpha val="50000"/>
                </a:sysClr>
              </a:solidFill>
              <a:round/>
            </a:ln>
            <a:effectLst>
              <a:outerShdw blurRad="63500" dist="889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2">
              <a:lumMod val="40000"/>
              <a:lumOff val="60000"/>
              <a:alpha val="88000"/>
            </a:schemeClr>
          </a:solidFill>
          <a:ln w="9525" cap="flat" cmpd="sng" algn="ctr">
            <a:solidFill>
              <a:schemeClr val="accent1">
                <a:lumMod val="50000"/>
              </a:schemeClr>
            </a:solidFill>
            <a:round/>
          </a:ln>
          <a:effectLst/>
          <a:scene3d>
            <a:camera prst="orthographicFront"/>
            <a:lightRig rig="threePt" dir="t"/>
          </a:scene3d>
          <a:sp3d prstMaterial="flat">
            <a:contourClr>
              <a:schemeClr val="accent1">
                <a:lumMod val="50000"/>
              </a:schemeClr>
            </a:contourClr>
          </a:sp3d>
        </c:spPr>
        <c:marker>
          <c:symbol val="none"/>
        </c:marker>
        <c:dLbl>
          <c:idx val="0"/>
          <c:spPr>
            <a:solidFill>
              <a:srgbClr val="4472C4">
                <a:alpha val="30000"/>
              </a:srgbClr>
            </a:solidFill>
            <a:ln>
              <a:solidFill>
                <a:sysClr val="window" lastClr="FFFFFF">
                  <a:alpha val="50000"/>
                </a:sysClr>
              </a:solidFill>
              <a:round/>
            </a:ln>
            <a:effectLst>
              <a:outerShdw blurRad="63500" dist="889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2">
              <a:lumMod val="40000"/>
              <a:lumOff val="60000"/>
              <a:alpha val="88000"/>
            </a:schemeClr>
          </a:solidFill>
          <a:ln w="9525" cap="flat" cmpd="sng" algn="ctr">
            <a:solidFill>
              <a:schemeClr val="accent1">
                <a:lumMod val="50000"/>
              </a:schemeClr>
            </a:solidFill>
            <a:round/>
          </a:ln>
          <a:effectLst/>
          <a:scene3d>
            <a:camera prst="orthographicFront"/>
            <a:lightRig rig="threePt" dir="t"/>
          </a:scene3d>
          <a:sp3d prstMaterial="flat">
            <a:contourClr>
              <a:schemeClr val="accent1">
                <a:lumMod val="50000"/>
              </a:schemeClr>
            </a:contourClr>
          </a:sp3d>
        </c:spPr>
        <c:marker>
          <c:symbol val="none"/>
        </c:marker>
        <c:dLbl>
          <c:idx val="0"/>
          <c:spPr>
            <a:solidFill>
              <a:srgbClr val="4472C4">
                <a:alpha val="30000"/>
              </a:srgbClr>
            </a:solidFill>
            <a:ln>
              <a:solidFill>
                <a:sysClr val="window" lastClr="FFFFFF">
                  <a:alpha val="50000"/>
                </a:sysClr>
              </a:solidFill>
              <a:round/>
            </a:ln>
            <a:effectLst>
              <a:outerShdw blurRad="63500" dist="889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2">
              <a:lumMod val="40000"/>
              <a:lumOff val="60000"/>
              <a:alpha val="88000"/>
            </a:schemeClr>
          </a:solidFill>
          <a:ln w="9525" cap="flat" cmpd="sng" algn="ctr">
            <a:solidFill>
              <a:schemeClr val="accent1">
                <a:lumMod val="50000"/>
              </a:schemeClr>
            </a:solidFill>
            <a:round/>
          </a:ln>
          <a:effectLst/>
          <a:scene3d>
            <a:camera prst="orthographicFront"/>
            <a:lightRig rig="threePt" dir="t"/>
          </a:scene3d>
          <a:sp3d prstMaterial="flat">
            <a:contourClr>
              <a:schemeClr val="accent1">
                <a:lumMod val="50000"/>
              </a:schemeClr>
            </a:contourClr>
          </a:sp3d>
        </c:spPr>
        <c:marker>
          <c:symbol val="none"/>
        </c:marker>
        <c:dLbl>
          <c:idx val="0"/>
          <c:spPr>
            <a:solidFill>
              <a:srgbClr val="4472C4">
                <a:alpha val="30000"/>
              </a:srgbClr>
            </a:solidFill>
            <a:ln>
              <a:solidFill>
                <a:sysClr val="window" lastClr="FFFFFF">
                  <a:alpha val="50000"/>
                </a:sysClr>
              </a:solidFill>
              <a:round/>
            </a:ln>
            <a:effectLst>
              <a:outerShdw blurRad="63500" dist="889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2">
              <a:lumMod val="40000"/>
              <a:lumOff val="60000"/>
              <a:alpha val="88000"/>
            </a:schemeClr>
          </a:solidFill>
          <a:ln w="9525" cap="flat" cmpd="sng" algn="ctr">
            <a:solidFill>
              <a:schemeClr val="accent1">
                <a:lumMod val="50000"/>
              </a:schemeClr>
            </a:solidFill>
            <a:round/>
          </a:ln>
          <a:effectLst/>
          <a:scene3d>
            <a:camera prst="orthographicFront"/>
            <a:lightRig rig="threePt" dir="t"/>
          </a:scene3d>
          <a:sp3d prstMaterial="flat">
            <a:contourClr>
              <a:schemeClr val="accent1">
                <a:lumMod val="50000"/>
              </a:schemeClr>
            </a:contourClr>
          </a:sp3d>
        </c:spPr>
        <c:marker>
          <c:symbol val="none"/>
        </c:marker>
        <c:dLbl>
          <c:idx val="0"/>
          <c:spPr>
            <a:solidFill>
              <a:srgbClr val="4472C4">
                <a:alpha val="30000"/>
              </a:srgbClr>
            </a:solidFill>
            <a:ln>
              <a:solidFill>
                <a:sysClr val="window" lastClr="FFFFFF">
                  <a:alpha val="50000"/>
                </a:sysClr>
              </a:solidFill>
              <a:round/>
            </a:ln>
            <a:effectLst>
              <a:outerShdw blurRad="63500" dist="889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2">
              <a:lumMod val="40000"/>
              <a:lumOff val="60000"/>
              <a:alpha val="88000"/>
            </a:schemeClr>
          </a:solidFill>
          <a:ln w="9525" cap="flat" cmpd="sng" algn="ctr">
            <a:solidFill>
              <a:schemeClr val="accent1">
                <a:lumMod val="50000"/>
              </a:schemeClr>
            </a:solidFill>
            <a:round/>
          </a:ln>
          <a:effectLst/>
          <a:scene3d>
            <a:camera prst="orthographicFront"/>
            <a:lightRig rig="threePt" dir="t"/>
          </a:scene3d>
          <a:sp3d prstMaterial="flat">
            <a:contourClr>
              <a:schemeClr val="accent1">
                <a:lumMod val="50000"/>
              </a:schemeClr>
            </a:contourClr>
          </a:sp3d>
        </c:spPr>
        <c:marker>
          <c:symbol val="none"/>
        </c:marker>
        <c:dLbl>
          <c:idx val="0"/>
          <c:spPr>
            <a:solidFill>
              <a:srgbClr val="4472C4">
                <a:alpha val="30000"/>
              </a:srgbClr>
            </a:solidFill>
            <a:ln>
              <a:solidFill>
                <a:sysClr val="window" lastClr="FFFFFF">
                  <a:alpha val="50000"/>
                </a:sysClr>
              </a:solidFill>
              <a:round/>
            </a:ln>
            <a:effectLst>
              <a:outerShdw blurRad="63500" dist="889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Subjective!$H$43</c:f>
              <c:strCache>
                <c:ptCount val="1"/>
                <c:pt idx="0">
                  <c:v>Total</c:v>
                </c:pt>
              </c:strCache>
            </c:strRef>
          </c:tx>
          <c:spPr>
            <a:solidFill>
              <a:schemeClr val="accent1"/>
            </a:solidFill>
            <a:ln>
              <a:noFill/>
            </a:ln>
            <a:effectLst/>
          </c:spPr>
          <c:invertIfNegative val="0"/>
          <c:dLbls>
            <c:dLbl>
              <c:idx val="1"/>
              <c:layout>
                <c:manualLayout>
                  <c:x val="-6.8920643035026343E-3"/>
                  <c:y val="-9.4993639125654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000-4FAF-9711-87AF27EC4C50}"/>
                </c:ext>
              </c:extLst>
            </c:dLbl>
            <c:dLbl>
              <c:idx val="8"/>
              <c:layout>
                <c:manualLayout>
                  <c:x val="0"/>
                  <c:y val="-5.7863661446169923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76E-4550-BA50-1DC4FDA13AEF}"/>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Subjective!$G$44:$G$59</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Subjective!$H$44:$H$59</c:f>
              <c:numCache>
                <c:formatCode>[$₹]#,##0.00</c:formatCode>
                <c:ptCount val="15"/>
                <c:pt idx="0">
                  <c:v>2066.8316666666674</c:v>
                </c:pt>
                <c:pt idx="1">
                  <c:v>2067.1333333333332</c:v>
                </c:pt>
                <c:pt idx="2">
                  <c:v>3110.9749999999999</c:v>
                </c:pt>
                <c:pt idx="3">
                  <c:v>623.37031900138697</c:v>
                </c:pt>
                <c:pt idx="4">
                  <c:v>1481.8738095238095</c:v>
                </c:pt>
                <c:pt idx="5">
                  <c:v>3590.0325000000003</c:v>
                </c:pt>
                <c:pt idx="6">
                  <c:v>10235.431818181818</c:v>
                </c:pt>
                <c:pt idx="7">
                  <c:v>5273.7875000000004</c:v>
                </c:pt>
                <c:pt idx="8">
                  <c:v>13366.465</c:v>
                </c:pt>
                <c:pt idx="9">
                  <c:v>2023.1146666666668</c:v>
                </c:pt>
                <c:pt idx="10">
                  <c:v>676.875</c:v>
                </c:pt>
                <c:pt idx="11">
                  <c:v>180.99132352941186</c:v>
                </c:pt>
                <c:pt idx="12">
                  <c:v>3887.4933333333338</c:v>
                </c:pt>
                <c:pt idx="13">
                  <c:v>5520.9093750000011</c:v>
                </c:pt>
                <c:pt idx="14">
                  <c:v>2244.370967741921</c:v>
                </c:pt>
              </c:numCache>
            </c:numRef>
          </c:val>
          <c:extLst>
            <c:ext xmlns:c16="http://schemas.microsoft.com/office/drawing/2014/chart" uri="{C3380CC4-5D6E-409C-BE32-E72D297353CC}">
              <c16:uniqueId val="{00000000-876E-4550-BA50-1DC4FDA13AEF}"/>
            </c:ext>
          </c:extLst>
        </c:ser>
        <c:dLbls>
          <c:showLegendKey val="0"/>
          <c:showVal val="1"/>
          <c:showCatName val="0"/>
          <c:showSerName val="0"/>
          <c:showPercent val="0"/>
          <c:showBubbleSize val="0"/>
        </c:dLbls>
        <c:gapWidth val="150"/>
        <c:axId val="2046937183"/>
        <c:axId val="2046937663"/>
      </c:barChart>
      <c:catAx>
        <c:axId val="2046937183"/>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46937663"/>
        <c:crosses val="autoZero"/>
        <c:auto val="1"/>
        <c:lblAlgn val="ctr"/>
        <c:lblOffset val="100"/>
        <c:noMultiLvlLbl val="0"/>
      </c:catAx>
      <c:valAx>
        <c:axId val="2046937663"/>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46937183"/>
        <c:crosses val="autoZero"/>
        <c:crossBetween val="between"/>
      </c:valAx>
      <c:spPr>
        <a:noFill/>
        <a:ln>
          <a:noFill/>
        </a:ln>
        <a:effectLst/>
      </c:spPr>
    </c:plotArea>
    <c:plotVisOnly val="1"/>
    <c:dispBlanksAs val="gap"/>
    <c:showDLblsOverMax val="0"/>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[Zomato_Data_Urvi.xlsx]country description!PivotTable6</c:name>
    <c:fmtId val="8"/>
  </c:pivotSource>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en-US"/>
              <a:t>Top 10 Cuisines</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92D050"/>
          </a:soli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rgbClr val="92D050"/>
          </a:soli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rgbClr val="92D050"/>
          </a:soli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'country description'!$K$3</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'country description'!$J$4:$J$14</c:f>
              <c:strCache>
                <c:ptCount val="10"/>
                <c:pt idx="0">
                  <c:v>Bakery</c:v>
                </c:pt>
                <c:pt idx="1">
                  <c:v>Bakery, Desserts</c:v>
                </c:pt>
                <c:pt idx="2">
                  <c:v>Cafe</c:v>
                </c:pt>
                <c:pt idx="3">
                  <c:v>Chinese</c:v>
                </c:pt>
                <c:pt idx="4">
                  <c:v>Fast Food</c:v>
                </c:pt>
                <c:pt idx="5">
                  <c:v>North Indian</c:v>
                </c:pt>
                <c:pt idx="6">
                  <c:v>North Indian, Chinese</c:v>
                </c:pt>
                <c:pt idx="7">
                  <c:v>North Indian, Mughlai</c:v>
                </c:pt>
                <c:pt idx="8">
                  <c:v>North Indian, Mughlai, Chinese</c:v>
                </c:pt>
                <c:pt idx="9">
                  <c:v>Street Food</c:v>
                </c:pt>
              </c:strCache>
            </c:strRef>
          </c:cat>
          <c:val>
            <c:numRef>
              <c:f>'country description'!$K$4:$K$14</c:f>
              <c:numCache>
                <c:formatCode>General</c:formatCode>
                <c:ptCount val="10"/>
                <c:pt idx="0">
                  <c:v>218</c:v>
                </c:pt>
                <c:pt idx="1">
                  <c:v>170</c:v>
                </c:pt>
                <c:pt idx="2">
                  <c:v>299</c:v>
                </c:pt>
                <c:pt idx="3">
                  <c:v>354</c:v>
                </c:pt>
                <c:pt idx="4">
                  <c:v>354</c:v>
                </c:pt>
                <c:pt idx="5">
                  <c:v>936</c:v>
                </c:pt>
                <c:pt idx="6">
                  <c:v>511</c:v>
                </c:pt>
                <c:pt idx="7">
                  <c:v>334</c:v>
                </c:pt>
                <c:pt idx="8">
                  <c:v>197</c:v>
                </c:pt>
                <c:pt idx="9">
                  <c:v>149</c:v>
                </c:pt>
              </c:numCache>
            </c:numRef>
          </c:val>
          <c:extLst>
            <c:ext xmlns:c16="http://schemas.microsoft.com/office/drawing/2014/chart" uri="{C3380CC4-5D6E-409C-BE32-E72D297353CC}">
              <c16:uniqueId val="{00000000-96AD-43F1-AA71-34622CD44B72}"/>
            </c:ext>
          </c:extLst>
        </c:ser>
        <c:dLbls>
          <c:dLblPos val="outEnd"/>
          <c:showLegendKey val="0"/>
          <c:showVal val="1"/>
          <c:showCatName val="0"/>
          <c:showSerName val="0"/>
          <c:showPercent val="0"/>
          <c:showBubbleSize val="0"/>
        </c:dLbls>
        <c:gapWidth val="100"/>
        <c:overlap val="-24"/>
        <c:axId val="1302546512"/>
        <c:axId val="1302546032"/>
      </c:barChart>
      <c:catAx>
        <c:axId val="1302546512"/>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02546032"/>
        <c:crosses val="autoZero"/>
        <c:auto val="1"/>
        <c:lblAlgn val="ctr"/>
        <c:lblOffset val="100"/>
        <c:noMultiLvlLbl val="0"/>
      </c:catAx>
      <c:valAx>
        <c:axId val="13025460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0254651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[Zomato_Data_Urvi.xlsx]country description!PivotTable7</c:name>
    <c:fmtId val="-1"/>
  </c:pivotSource>
  <c:chart>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'country description'!$T$2</c:f>
              <c:strCache>
                <c:ptCount val="1"/>
                <c:pt idx="0">
                  <c:v>Average of Price_range</c:v>
                </c:pt>
              </c:strCache>
            </c:strRef>
          </c:tx>
          <c:spPr>
            <a:solidFill>
              <a:schemeClr val="accent1"/>
            </a:solidFill>
            <a:ln>
              <a:noFill/>
            </a:ln>
            <a:effectLst/>
          </c:spPr>
          <c:invertIfNegative val="0"/>
          <c:dLbls>
            <c:dLbl>
              <c:idx val="12"/>
              <c:layout>
                <c:manualLayout>
                  <c:x val="-1.7628001488027682E-16"/>
                  <c:y val="-6.1182410297915081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F568-4BE6-AA23-F02DAF9EFB89}"/>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'country description'!$S$3:$S$18</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'country description'!$T$3:$T$18</c:f>
              <c:numCache>
                <c:formatCode>General</c:formatCode>
                <c:ptCount val="15"/>
                <c:pt idx="0">
                  <c:v>2.125</c:v>
                </c:pt>
                <c:pt idx="1">
                  <c:v>3.4</c:v>
                </c:pt>
                <c:pt idx="2">
                  <c:v>2.5</c:v>
                </c:pt>
                <c:pt idx="3">
                  <c:v>1.7216828478964401</c:v>
                </c:pt>
                <c:pt idx="4">
                  <c:v>2.9523809523809526</c:v>
                </c:pt>
                <c:pt idx="5">
                  <c:v>3.15</c:v>
                </c:pt>
                <c:pt idx="6">
                  <c:v>3.3636363636363638</c:v>
                </c:pt>
                <c:pt idx="7">
                  <c:v>3.65</c:v>
                </c:pt>
                <c:pt idx="8">
                  <c:v>3.65</c:v>
                </c:pt>
                <c:pt idx="9">
                  <c:v>3.5833333333333335</c:v>
                </c:pt>
                <c:pt idx="10">
                  <c:v>2.85</c:v>
                </c:pt>
                <c:pt idx="11">
                  <c:v>2.8235294117647061</c:v>
                </c:pt>
                <c:pt idx="12">
                  <c:v>3.2166666666666668</c:v>
                </c:pt>
                <c:pt idx="13">
                  <c:v>2.75</c:v>
                </c:pt>
                <c:pt idx="14">
                  <c:v>2.0460829493087558</c:v>
                </c:pt>
              </c:numCache>
            </c:numRef>
          </c:val>
          <c:extLst>
            <c:ext xmlns:c16="http://schemas.microsoft.com/office/drawing/2014/chart" uri="{C3380CC4-5D6E-409C-BE32-E72D297353CC}">
              <c16:uniqueId val="{00000000-F568-4BE6-AA23-F02DAF9EFB89}"/>
            </c:ext>
          </c:extLst>
        </c:ser>
        <c:ser>
          <c:idx val="1"/>
          <c:order val="1"/>
          <c:tx>
            <c:strRef>
              <c:f>'country description'!$U$2</c:f>
              <c:strCache>
                <c:ptCount val="1"/>
                <c:pt idx="0">
                  <c:v>Average of Rating</c:v>
                </c:pt>
              </c:strCache>
            </c:strRef>
          </c:tx>
          <c:spPr>
            <a:solidFill>
              <a:schemeClr val="accent2"/>
            </a:solidFill>
            <a:ln>
              <a:noFill/>
            </a:ln>
            <a:effectLst/>
          </c:spPr>
          <c:invertIfNegative val="0"/>
          <c:dLbls>
            <c:dLbl>
              <c:idx val="0"/>
              <c:layout>
                <c:manualLayout>
                  <c:x val="9.1912098728043606E-3"/>
                  <c:y val="-0.17290681171149885"/>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F568-4BE6-AA23-F02DAF9EFB89}"/>
                </c:ext>
              </c:extLst>
            </c:dLbl>
            <c:dLbl>
              <c:idx val="1"/>
              <c:layout>
                <c:manualLayout>
                  <c:x val="1.1029411764705883E-2"/>
                  <c:y val="-0.1330052397780760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F568-4BE6-AA23-F02DAF9EFB89}"/>
                </c:ext>
              </c:extLst>
            </c:dLbl>
            <c:dLbl>
              <c:idx val="3"/>
              <c:layout>
                <c:manualLayout>
                  <c:x val="5.656136432465173E-3"/>
                  <c:y val="-0.14098555416476061"/>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F568-4BE6-AA23-F02DAF9EFB89}"/>
                </c:ext>
              </c:extLst>
            </c:dLbl>
            <c:dLbl>
              <c:idx val="4"/>
              <c:layout>
                <c:manualLayout>
                  <c:x val="-3.3700591080052924E-17"/>
                  <c:y val="-0.1596062877336913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F568-4BE6-AA23-F02DAF9EFB89}"/>
                </c:ext>
              </c:extLst>
            </c:dLbl>
            <c:dLbl>
              <c:idx val="6"/>
              <c:layout>
                <c:manualLayout>
                  <c:x val="-7.3529411764705881E-3"/>
                  <c:y val="-0.18088712609818344"/>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568-4BE6-AA23-F02DAF9EFB89}"/>
                </c:ext>
              </c:extLst>
            </c:dLbl>
            <c:dLbl>
              <c:idx val="12"/>
              <c:layout>
                <c:manualLayout>
                  <c:x val="-5.514705882353076E-3"/>
                  <c:y val="-0.1596062877336912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568-4BE6-AA23-F02DAF9EFB89}"/>
                </c:ext>
              </c:extLst>
            </c:dLbl>
            <c:dLbl>
              <c:idx val="14"/>
              <c:layout>
                <c:manualLayout>
                  <c:x val="0"/>
                  <c:y val="-0.16492649732481429"/>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568-4BE6-AA23-F02DAF9EFB89}"/>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'country description'!$S$3:$S$18</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'country description'!$U$3:$U$18</c:f>
              <c:numCache>
                <c:formatCode>General</c:formatCode>
                <c:ptCount val="15"/>
                <c:pt idx="0">
                  <c:v>3.6583333333333337</c:v>
                </c:pt>
                <c:pt idx="1">
                  <c:v>3.8466666666666667</c:v>
                </c:pt>
                <c:pt idx="2">
                  <c:v>3.5750000000000002</c:v>
                </c:pt>
                <c:pt idx="3">
                  <c:v>2.7705501618122987</c:v>
                </c:pt>
                <c:pt idx="4">
                  <c:v>4.295238095238096</c:v>
                </c:pt>
                <c:pt idx="5">
                  <c:v>4.2624999999999993</c:v>
                </c:pt>
                <c:pt idx="6">
                  <c:v>4.4681818181818187</c:v>
                </c:pt>
                <c:pt idx="7">
                  <c:v>4.0599999999999996</c:v>
                </c:pt>
                <c:pt idx="8">
                  <c:v>3.5750000000000002</c:v>
                </c:pt>
                <c:pt idx="9">
                  <c:v>4.2100000000000009</c:v>
                </c:pt>
                <c:pt idx="10">
                  <c:v>3.87</c:v>
                </c:pt>
                <c:pt idx="11">
                  <c:v>4.3</c:v>
                </c:pt>
                <c:pt idx="12">
                  <c:v>4.2333333333333352</c:v>
                </c:pt>
                <c:pt idx="13">
                  <c:v>4.0999999999999996</c:v>
                </c:pt>
                <c:pt idx="14">
                  <c:v>4.011290322580642</c:v>
                </c:pt>
              </c:numCache>
            </c:numRef>
          </c:val>
          <c:extLst>
            <c:ext xmlns:c16="http://schemas.microsoft.com/office/drawing/2014/chart" uri="{C3380CC4-5D6E-409C-BE32-E72D297353CC}">
              <c16:uniqueId val="{00000001-F568-4BE6-AA23-F02DAF9EFB89}"/>
            </c:ext>
          </c:extLst>
        </c:ser>
        <c:dLbls>
          <c:dLblPos val="ctr"/>
          <c:showLegendKey val="0"/>
          <c:showVal val="1"/>
          <c:showCatName val="0"/>
          <c:showSerName val="0"/>
          <c:showPercent val="0"/>
          <c:showBubbleSize val="0"/>
        </c:dLbls>
        <c:gapWidth val="150"/>
        <c:overlap val="100"/>
        <c:axId val="795787184"/>
        <c:axId val="795765584"/>
      </c:barChart>
      <c:catAx>
        <c:axId val="7957871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95765584"/>
        <c:crosses val="autoZero"/>
        <c:auto val="1"/>
        <c:lblAlgn val="ctr"/>
        <c:lblOffset val="100"/>
        <c:noMultiLvlLbl val="0"/>
      </c:catAx>
      <c:valAx>
        <c:axId val="7957655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9578718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Table Booking</a:t>
            </a:r>
          </a:p>
        </c:rich>
      </c:tx>
      <c:layout>
        <c:manualLayout>
          <c:xMode val="edge"/>
          <c:yMode val="edge"/>
          <c:x val="0.26911078960176554"/>
          <c:y val="5.4216867469879519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5"/>
          </a:solidFill>
          <a:ln w="19050">
            <a:noFill/>
          </a:ln>
          <a:effectLst>
            <a:outerShdw blurRad="254000" sx="102000" sy="102000" algn="ctr" rotWithShape="0">
              <a:prstClr val="black">
                <a:alpha val="20000"/>
              </a:prstClr>
            </a:outerShdw>
          </a:effectLst>
          <a:scene3d>
            <a:camera prst="orthographicFront">
              <a:rot lat="0" lon="0" rev="0"/>
            </a:camera>
            <a:lightRig rig="threePt" dir="t"/>
          </a:scene3d>
          <a:sp3d prstMaterial="plastic">
            <a:bevelT w="25400" h="25400"/>
          </a:sp3d>
        </c:spPr>
        <c:marker>
          <c:symbol val="none"/>
        </c:marker>
        <c:dLbl>
          <c:idx val="0"/>
          <c:spPr>
            <a:pattFill prst="pct75">
              <a:fgClr>
                <a:srgbClr val="000000">
                  <a:lumMod val="75000"/>
                  <a:lumOff val="25000"/>
                </a:srgbClr>
              </a:fgClr>
              <a:bgClr>
                <a:srgbClr val="000000">
                  <a:lumMod val="65000"/>
                  <a:lumOff val="35000"/>
                </a:srgb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5">
              <a:tint val="77000"/>
            </a:schemeClr>
          </a:solidFill>
          <a:ln w="19050">
            <a:noFill/>
          </a:ln>
          <a:effectLst>
            <a:outerShdw blurRad="254000" sx="102000" sy="102000" algn="ctr" rotWithShape="0">
              <a:prstClr val="black">
                <a:alpha val="20000"/>
              </a:prstClr>
            </a:outerShdw>
          </a:effectLst>
          <a:scene3d>
            <a:camera prst="orthographicFront">
              <a:rot lat="0" lon="0" rev="0"/>
            </a:camera>
            <a:lightRig rig="threePt" dir="t"/>
          </a:scene3d>
          <a:sp3d prstMaterial="plastic">
            <a:bevelT w="25400" h="25400"/>
          </a:sp3d>
        </c:spPr>
      </c:pivotFmt>
      <c:pivotFmt>
        <c:idx val="2"/>
        <c:spPr>
          <a:solidFill>
            <a:schemeClr val="accent5">
              <a:shade val="76000"/>
            </a:schemeClr>
          </a:solidFill>
          <a:ln w="19050">
            <a:noFill/>
          </a:ln>
          <a:effectLst>
            <a:outerShdw blurRad="254000" sx="102000" sy="102000" algn="ctr" rotWithShape="0">
              <a:prstClr val="black">
                <a:alpha val="20000"/>
              </a:prstClr>
            </a:outerShdw>
          </a:effectLst>
          <a:scene3d>
            <a:camera prst="orthographicFront">
              <a:rot lat="0" lon="0" rev="0"/>
            </a:camera>
            <a:lightRig rig="threePt" dir="t"/>
          </a:scene3d>
          <a:sp3d prstMaterial="plastic">
            <a:bevelT w="25400" h="25400"/>
          </a:sp3d>
        </c:spPr>
      </c:pivotFmt>
      <c:pivotFmt>
        <c:idx val="3"/>
        <c:spPr>
          <a:solidFill>
            <a:schemeClr val="accent5"/>
          </a:solidFill>
          <a:ln w="19050">
            <a:noFill/>
          </a:ln>
          <a:effectLst>
            <a:outerShdw blurRad="254000" sx="102000" sy="102000" algn="ctr" rotWithShape="0">
              <a:prstClr val="black">
                <a:alpha val="20000"/>
              </a:prstClr>
            </a:outerShdw>
          </a:effectLst>
          <a:scene3d>
            <a:camera prst="orthographicFront">
              <a:rot lat="0" lon="0" rev="0"/>
            </a:camera>
            <a:lightRig rig="threePt" dir="t"/>
          </a:scene3d>
          <a:sp3d prstMaterial="plastic">
            <a:bevelT w="25400" h="25400"/>
          </a:sp3d>
        </c:spPr>
        <c:marker>
          <c:symbol val="none"/>
        </c:marker>
        <c:dLbl>
          <c:idx val="0"/>
          <c:spPr>
            <a:pattFill prst="pct75">
              <a:fgClr>
                <a:srgbClr val="000000">
                  <a:lumMod val="75000"/>
                  <a:lumOff val="25000"/>
                </a:srgbClr>
              </a:fgClr>
              <a:bgClr>
                <a:srgbClr val="000000">
                  <a:lumMod val="65000"/>
                  <a:lumOff val="35000"/>
                </a:srgb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4"/>
        <c:spPr>
          <a:solidFill>
            <a:schemeClr val="accent5">
              <a:tint val="77000"/>
            </a:schemeClr>
          </a:solidFill>
          <a:ln w="19050">
            <a:noFill/>
          </a:ln>
          <a:effectLst>
            <a:outerShdw blurRad="254000" sx="102000" sy="102000" algn="ctr" rotWithShape="0">
              <a:prstClr val="black">
                <a:alpha val="20000"/>
              </a:prstClr>
            </a:outerShdw>
          </a:effectLst>
          <a:scene3d>
            <a:camera prst="orthographicFront">
              <a:rot lat="0" lon="0" rev="0"/>
            </a:camera>
            <a:lightRig rig="threePt" dir="t"/>
          </a:scene3d>
          <a:sp3d prstMaterial="plastic">
            <a:bevelT w="25400" h="25400"/>
          </a:sp3d>
        </c:spPr>
      </c:pivotFmt>
      <c:pivotFmt>
        <c:idx val="5"/>
        <c:spPr>
          <a:solidFill>
            <a:schemeClr val="accent5">
              <a:shade val="76000"/>
            </a:schemeClr>
          </a:solidFill>
          <a:ln w="19050">
            <a:noFill/>
          </a:ln>
          <a:effectLst>
            <a:outerShdw blurRad="254000" sx="102000" sy="102000" algn="ctr" rotWithShape="0">
              <a:prstClr val="black">
                <a:alpha val="20000"/>
              </a:prstClr>
            </a:outerShdw>
          </a:effectLst>
          <a:scene3d>
            <a:camera prst="orthographicFront">
              <a:rot lat="0" lon="0" rev="0"/>
            </a:camera>
            <a:lightRig rig="threePt" dir="t"/>
          </a:scene3d>
          <a:sp3d prstMaterial="plastic">
            <a:bevelT w="25400" h="25400"/>
          </a:sp3d>
        </c:spPr>
      </c:pivotFmt>
      <c:pivotFmt>
        <c:idx val="6"/>
        <c:spPr>
          <a:solidFill>
            <a:schemeClr val="accent5"/>
          </a:solidFill>
          <a:ln w="19050">
            <a:noFill/>
          </a:ln>
          <a:effectLst>
            <a:outerShdw blurRad="254000" sx="102000" sy="102000" algn="ctr" rotWithShape="0">
              <a:prstClr val="black">
                <a:alpha val="20000"/>
              </a:prstClr>
            </a:outerShdw>
          </a:effectLst>
          <a:scene3d>
            <a:camera prst="orthographicFront">
              <a:rot lat="0" lon="0" rev="0"/>
            </a:camera>
            <a:lightRig rig="threePt" dir="t"/>
          </a:scene3d>
          <a:sp3d prstMaterial="plastic">
            <a:bevelT w="25400" h="25400"/>
          </a:sp3d>
        </c:spPr>
        <c:marker>
          <c:symbol val="none"/>
        </c:marker>
        <c:dLbl>
          <c:idx val="0"/>
          <c:spPr>
            <a:pattFill prst="pct75">
              <a:fgClr>
                <a:srgbClr val="000000">
                  <a:lumMod val="75000"/>
                  <a:lumOff val="25000"/>
                </a:srgbClr>
              </a:fgClr>
              <a:bgClr>
                <a:srgbClr val="000000">
                  <a:lumMod val="65000"/>
                  <a:lumOff val="35000"/>
                </a:srgb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7"/>
        <c:spPr>
          <a:solidFill>
            <a:schemeClr val="accent5">
              <a:tint val="77000"/>
            </a:schemeClr>
          </a:solidFill>
          <a:ln w="19050">
            <a:noFill/>
          </a:ln>
          <a:effectLst>
            <a:outerShdw blurRad="254000" sx="102000" sy="102000" algn="ctr" rotWithShape="0">
              <a:prstClr val="black">
                <a:alpha val="20000"/>
              </a:prstClr>
            </a:outerShdw>
          </a:effectLst>
          <a:scene3d>
            <a:camera prst="orthographicFront">
              <a:rot lat="0" lon="0" rev="0"/>
            </a:camera>
            <a:lightRig rig="threePt" dir="t"/>
          </a:scene3d>
          <a:sp3d prstMaterial="plastic">
            <a:bevelT w="25400" h="25400"/>
          </a:sp3d>
        </c:spPr>
      </c:pivotFmt>
      <c:pivotFmt>
        <c:idx val="8"/>
        <c:spPr>
          <a:solidFill>
            <a:schemeClr val="accent5">
              <a:shade val="76000"/>
            </a:schemeClr>
          </a:solidFill>
          <a:ln w="19050">
            <a:noFill/>
          </a:ln>
          <a:effectLst>
            <a:outerShdw blurRad="254000" sx="102000" sy="102000" algn="ctr" rotWithShape="0">
              <a:prstClr val="black">
                <a:alpha val="20000"/>
              </a:prstClr>
            </a:outerShdw>
          </a:effectLst>
          <a:scene3d>
            <a:camera prst="orthographicFront">
              <a:rot lat="0" lon="0" rev="0"/>
            </a:camera>
            <a:lightRig rig="threePt" dir="t"/>
          </a:scene3d>
          <a:sp3d prstMaterial="plastic">
            <a:bevelT w="25400" h="25400"/>
          </a:sp3d>
        </c:spPr>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v>Total</c:v>
          </c:tx>
          <c:dPt>
            <c:idx val="0"/>
            <c:bubble3D val="0"/>
            <c:spPr>
              <a:solidFill>
                <a:schemeClr val="accent5">
                  <a:tint val="77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1-2F0A-4AF7-A534-778EEA5E0B01}"/>
              </c:ext>
            </c:extLst>
          </c:dPt>
          <c:dPt>
            <c:idx val="1"/>
            <c:bubble3D val="0"/>
            <c:spPr>
              <a:solidFill>
                <a:schemeClr val="accent5">
                  <a:shade val="76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3-2F0A-4AF7-A534-778EEA5E0B01}"/>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Lit>
              <c:ptCount val="2"/>
              <c:pt idx="0">
                <c:v>No</c:v>
              </c:pt>
              <c:pt idx="1">
                <c:v>Yes</c:v>
              </c:pt>
            </c:strLit>
          </c:cat>
          <c:val>
            <c:numLit>
              <c:formatCode>General</c:formatCode>
              <c:ptCount val="2"/>
              <c:pt idx="0">
                <c:v>2.8096866436315997</c:v>
              </c:pt>
              <c:pt idx="1">
                <c:v>3.4825561312607936</c:v>
              </c:pt>
            </c:numLit>
          </c:val>
          <c:extLst>
            <c:ext xmlns:c16="http://schemas.microsoft.com/office/drawing/2014/chart" uri="{C3380CC4-5D6E-409C-BE32-E72D297353CC}">
              <c16:uniqueId val="{00000004-2F0A-4AF7-A534-778EEA5E0B01}"/>
            </c:ext>
          </c:extLst>
        </c:ser>
        <c:dLbls>
          <c:dLblPos val="outEnd"/>
          <c:showLegendKey val="0"/>
          <c:showVal val="0"/>
          <c:showCatName val="0"/>
          <c:showSerName val="0"/>
          <c:showPercent val="1"/>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Online Booking</a:t>
            </a:r>
          </a:p>
        </c:rich>
      </c:tx>
      <c:layout>
        <c:manualLayout>
          <c:xMode val="edge"/>
          <c:yMode val="edge"/>
          <c:x val="0.25875166621748596"/>
          <c:y val="7.0566602023411779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5"/>
          </a:solidFill>
          <a:ln w="19050">
            <a:noFill/>
          </a:ln>
          <a:effectLst>
            <a:outerShdw blurRad="254000" sx="102000" sy="102000" algn="ctr" rotWithShape="0">
              <a:prstClr val="black">
                <a:alpha val="20000"/>
              </a:prstClr>
            </a:outerShdw>
          </a:effectLst>
          <a:scene3d>
            <a:camera prst="orthographicFront">
              <a:rot lat="0" lon="0" rev="0"/>
            </a:camera>
            <a:lightRig rig="threePt" dir="t"/>
          </a:scene3d>
          <a:sp3d prstMaterial="plastic">
            <a:bevelT w="25400" h="25400"/>
          </a:sp3d>
        </c:spPr>
        <c:marker>
          <c:symbol val="none"/>
        </c:marker>
        <c:dLbl>
          <c:idx val="0"/>
          <c:spPr>
            <a:pattFill prst="pct75">
              <a:fgClr>
                <a:srgbClr val="000000">
                  <a:lumMod val="75000"/>
                  <a:lumOff val="25000"/>
                </a:srgbClr>
              </a:fgClr>
              <a:bgClr>
                <a:srgbClr val="000000">
                  <a:lumMod val="65000"/>
                  <a:lumOff val="35000"/>
                </a:srgb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5">
              <a:shade val="76000"/>
            </a:schemeClr>
          </a:solidFill>
          <a:ln w="19050">
            <a:noFill/>
          </a:ln>
          <a:effectLst>
            <a:outerShdw blurRad="254000" sx="102000" sy="102000" algn="ctr" rotWithShape="0">
              <a:prstClr val="black">
                <a:alpha val="20000"/>
              </a:prstClr>
            </a:outerShdw>
          </a:effectLst>
          <a:scene3d>
            <a:camera prst="orthographicFront">
              <a:rot lat="0" lon="0" rev="0"/>
            </a:camera>
            <a:lightRig rig="threePt" dir="t"/>
          </a:scene3d>
          <a:sp3d prstMaterial="plastic">
            <a:bevelT w="25400" h="25400"/>
          </a:sp3d>
        </c:spPr>
      </c:pivotFmt>
      <c:pivotFmt>
        <c:idx val="2"/>
        <c:spPr>
          <a:solidFill>
            <a:schemeClr val="accent5">
              <a:tint val="77000"/>
            </a:schemeClr>
          </a:solidFill>
          <a:ln w="19050">
            <a:noFill/>
          </a:ln>
          <a:effectLst>
            <a:outerShdw blurRad="254000" sx="102000" sy="102000" algn="ctr" rotWithShape="0">
              <a:prstClr val="black">
                <a:alpha val="20000"/>
              </a:prstClr>
            </a:outerShdw>
          </a:effectLst>
          <a:scene3d>
            <a:camera prst="orthographicFront">
              <a:rot lat="0" lon="0" rev="0"/>
            </a:camera>
            <a:lightRig rig="threePt" dir="t"/>
          </a:scene3d>
          <a:sp3d prstMaterial="plastic">
            <a:bevelT w="25400" h="25400"/>
          </a:sp3d>
        </c:spPr>
      </c:pivotFmt>
      <c:pivotFmt>
        <c:idx val="3"/>
        <c:spPr>
          <a:solidFill>
            <a:schemeClr val="accent5"/>
          </a:solidFill>
          <a:ln w="19050">
            <a:noFill/>
          </a:ln>
          <a:effectLst>
            <a:outerShdw blurRad="254000" sx="102000" sy="102000" algn="ctr" rotWithShape="0">
              <a:prstClr val="black">
                <a:alpha val="20000"/>
              </a:prstClr>
            </a:outerShdw>
          </a:effectLst>
          <a:scene3d>
            <a:camera prst="orthographicFront">
              <a:rot lat="0" lon="0" rev="0"/>
            </a:camera>
            <a:lightRig rig="threePt" dir="t"/>
          </a:scene3d>
          <a:sp3d prstMaterial="plastic">
            <a:bevelT w="25400" h="25400"/>
          </a:sp3d>
        </c:spPr>
        <c:marker>
          <c:symbol val="none"/>
        </c:marker>
        <c:dLbl>
          <c:idx val="0"/>
          <c:spPr>
            <a:pattFill prst="pct75">
              <a:fgClr>
                <a:srgbClr val="000000">
                  <a:lumMod val="75000"/>
                  <a:lumOff val="25000"/>
                </a:srgbClr>
              </a:fgClr>
              <a:bgClr>
                <a:srgbClr val="000000">
                  <a:lumMod val="65000"/>
                  <a:lumOff val="35000"/>
                </a:srgb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4"/>
        <c:spPr>
          <a:solidFill>
            <a:schemeClr val="accent5">
              <a:shade val="76000"/>
            </a:schemeClr>
          </a:solidFill>
          <a:ln w="19050">
            <a:noFill/>
          </a:ln>
          <a:effectLst>
            <a:outerShdw blurRad="254000" sx="102000" sy="102000" algn="ctr" rotWithShape="0">
              <a:prstClr val="black">
                <a:alpha val="20000"/>
              </a:prstClr>
            </a:outerShdw>
          </a:effectLst>
          <a:scene3d>
            <a:camera prst="orthographicFront">
              <a:rot lat="0" lon="0" rev="0"/>
            </a:camera>
            <a:lightRig rig="threePt" dir="t"/>
          </a:scene3d>
          <a:sp3d prstMaterial="plastic">
            <a:bevelT w="25400" h="25400"/>
          </a:sp3d>
        </c:spPr>
      </c:pivotFmt>
      <c:pivotFmt>
        <c:idx val="5"/>
        <c:spPr>
          <a:solidFill>
            <a:schemeClr val="accent5">
              <a:tint val="77000"/>
            </a:schemeClr>
          </a:solidFill>
          <a:ln w="19050">
            <a:noFill/>
          </a:ln>
          <a:effectLst>
            <a:outerShdw blurRad="254000" sx="102000" sy="102000" algn="ctr" rotWithShape="0">
              <a:prstClr val="black">
                <a:alpha val="20000"/>
              </a:prstClr>
            </a:outerShdw>
          </a:effectLst>
          <a:scene3d>
            <a:camera prst="orthographicFront">
              <a:rot lat="0" lon="0" rev="0"/>
            </a:camera>
            <a:lightRig rig="threePt" dir="t"/>
          </a:scene3d>
          <a:sp3d prstMaterial="plastic">
            <a:bevelT w="25400" h="25400"/>
          </a:sp3d>
        </c:spPr>
      </c:pivotFmt>
      <c:pivotFmt>
        <c:idx val="6"/>
        <c:spPr>
          <a:solidFill>
            <a:schemeClr val="accent5"/>
          </a:solidFill>
          <a:ln w="19050">
            <a:noFill/>
          </a:ln>
          <a:effectLst>
            <a:outerShdw blurRad="254000" sx="102000" sy="102000" algn="ctr" rotWithShape="0">
              <a:prstClr val="black">
                <a:alpha val="20000"/>
              </a:prstClr>
            </a:outerShdw>
          </a:effectLst>
          <a:scene3d>
            <a:camera prst="orthographicFront">
              <a:rot lat="0" lon="0" rev="0"/>
            </a:camera>
            <a:lightRig rig="threePt" dir="t"/>
          </a:scene3d>
          <a:sp3d prstMaterial="plastic">
            <a:bevelT w="25400" h="25400"/>
          </a:sp3d>
        </c:spPr>
        <c:marker>
          <c:symbol val="none"/>
        </c:marker>
        <c:dLbl>
          <c:idx val="0"/>
          <c:spPr>
            <a:pattFill prst="pct75">
              <a:fgClr>
                <a:srgbClr val="000000">
                  <a:lumMod val="75000"/>
                  <a:lumOff val="25000"/>
                </a:srgbClr>
              </a:fgClr>
              <a:bgClr>
                <a:srgbClr val="000000">
                  <a:lumMod val="65000"/>
                  <a:lumOff val="35000"/>
                </a:srgb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7"/>
        <c:spPr>
          <a:solidFill>
            <a:schemeClr val="accent5">
              <a:shade val="76000"/>
            </a:schemeClr>
          </a:solidFill>
          <a:ln w="19050">
            <a:noFill/>
          </a:ln>
          <a:effectLst>
            <a:outerShdw blurRad="254000" sx="102000" sy="102000" algn="ctr" rotWithShape="0">
              <a:prstClr val="black">
                <a:alpha val="20000"/>
              </a:prstClr>
            </a:outerShdw>
          </a:effectLst>
          <a:scene3d>
            <a:camera prst="orthographicFront">
              <a:rot lat="0" lon="0" rev="0"/>
            </a:camera>
            <a:lightRig rig="threePt" dir="t"/>
          </a:scene3d>
          <a:sp3d prstMaterial="plastic">
            <a:bevelT w="25400" h="25400"/>
          </a:sp3d>
        </c:spPr>
      </c:pivotFmt>
      <c:pivotFmt>
        <c:idx val="8"/>
        <c:spPr>
          <a:solidFill>
            <a:schemeClr val="accent5">
              <a:tint val="77000"/>
            </a:schemeClr>
          </a:solidFill>
          <a:ln w="19050">
            <a:noFill/>
          </a:ln>
          <a:effectLst>
            <a:outerShdw blurRad="254000" sx="102000" sy="102000" algn="ctr" rotWithShape="0">
              <a:prstClr val="black">
                <a:alpha val="20000"/>
              </a:prstClr>
            </a:outerShdw>
          </a:effectLst>
          <a:scene3d>
            <a:camera prst="orthographicFront">
              <a:rot lat="0" lon="0" rev="0"/>
            </a:camera>
            <a:lightRig rig="threePt" dir="t"/>
          </a:scene3d>
          <a:sp3d prstMaterial="plastic">
            <a:bevelT w="25400" h="25400"/>
          </a:sp3d>
        </c:spPr>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v>Total</c:v>
          </c:tx>
          <c:dPt>
            <c:idx val="0"/>
            <c:bubble3D val="0"/>
            <c:spPr>
              <a:solidFill>
                <a:schemeClr val="accent5">
                  <a:shade val="76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1-50E6-4DBA-AEA7-D7AB886DB02D}"/>
              </c:ext>
            </c:extLst>
          </c:dPt>
          <c:dPt>
            <c:idx val="1"/>
            <c:bubble3D val="0"/>
            <c:spPr>
              <a:solidFill>
                <a:schemeClr val="accent5">
                  <a:tint val="77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3-50E6-4DBA-AEA7-D7AB886DB02D}"/>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Lit>
              <c:ptCount val="2"/>
              <c:pt idx="0">
                <c:v>No</c:v>
              </c:pt>
              <c:pt idx="1">
                <c:v>Yes</c:v>
              </c:pt>
            </c:strLit>
          </c:cat>
          <c:val>
            <c:numLit>
              <c:formatCode>General</c:formatCode>
              <c:ptCount val="2"/>
              <c:pt idx="0">
                <c:v>2.7543098591549313</c:v>
              </c:pt>
              <c:pt idx="1">
                <c:v>3.2880048959608312</c:v>
              </c:pt>
            </c:numLit>
          </c:val>
          <c:extLst>
            <c:ext xmlns:c16="http://schemas.microsoft.com/office/drawing/2014/chart" uri="{C3380CC4-5D6E-409C-BE32-E72D297353CC}">
              <c16:uniqueId val="{00000004-50E6-4DBA-AEA7-D7AB886DB02D}"/>
            </c:ext>
          </c:extLst>
        </c:ser>
        <c:dLbls>
          <c:dLblPos val="outEnd"/>
          <c:showLegendKey val="0"/>
          <c:showVal val="0"/>
          <c:showCatName val="0"/>
          <c:showSerName val="0"/>
          <c:showPercent val="1"/>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withinLinearReversed" id="25">
  <a:schemeClr val="accent5"/>
</cs:colorStyle>
</file>

<file path=ppt/charts/colors8.xml><?xml version="1.0" encoding="utf-8"?>
<cs:colorStyle xmlns:cs="http://schemas.microsoft.com/office/drawing/2012/chartStyle" xmlns:a="http://schemas.openxmlformats.org/drawingml/2006/main" meth="withinLinear" id="18">
  <a:schemeClr val="accent5"/>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49B93-E58C-5EEF-A198-DB7A33588F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CDA60B8-108E-5E9A-C8A5-80405BE070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C4E5E76-4175-BD9A-3D2B-37B89F0C76A6}"/>
              </a:ext>
            </a:extLst>
          </p:cNvPr>
          <p:cNvSpPr>
            <a:spLocks noGrp="1"/>
          </p:cNvSpPr>
          <p:nvPr>
            <p:ph type="dt" sz="half" idx="10"/>
          </p:nvPr>
        </p:nvSpPr>
        <p:spPr/>
        <p:txBody>
          <a:bodyPr/>
          <a:lstStyle/>
          <a:p>
            <a:fld id="{88D38747-4367-4BD2-8D51-C97E202738E2}" type="datetime1">
              <a:rPr lang="en-US" smtClean="0"/>
              <a:t>12/10/2025</a:t>
            </a:fld>
            <a:endParaRPr lang="en-US" dirty="0"/>
          </a:p>
        </p:txBody>
      </p:sp>
      <p:sp>
        <p:nvSpPr>
          <p:cNvPr id="5" name="Footer Placeholder 4">
            <a:extLst>
              <a:ext uri="{FF2B5EF4-FFF2-40B4-BE49-F238E27FC236}">
                <a16:creationId xmlns:a16="http://schemas.microsoft.com/office/drawing/2014/main" id="{7B3F2DE8-D2D5-7BEF-046F-7198A994772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724808C-EDA2-E603-5872-99F0F3B7BEBE}"/>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291375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32D23-F734-404C-5DDB-13444EC80EC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C574DF5-3E68-F9A9-D6DD-B31E7A1ABE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5D5AC4-AA35-AD56-A9DE-40F3856275F9}"/>
              </a:ext>
            </a:extLst>
          </p:cNvPr>
          <p:cNvSpPr>
            <a:spLocks noGrp="1"/>
          </p:cNvSpPr>
          <p:nvPr>
            <p:ph type="dt" sz="half" idx="10"/>
          </p:nvPr>
        </p:nvSpPr>
        <p:spPr/>
        <p:txBody>
          <a:bodyPr/>
          <a:lstStyle/>
          <a:p>
            <a:fld id="{073ED0CC-082F-4160-86E5-0D6041F12778}" type="datetime1">
              <a:rPr lang="en-US" smtClean="0"/>
              <a:t>12/10/2025</a:t>
            </a:fld>
            <a:endParaRPr lang="en-US" dirty="0"/>
          </a:p>
        </p:txBody>
      </p:sp>
      <p:sp>
        <p:nvSpPr>
          <p:cNvPr id="5" name="Footer Placeholder 4">
            <a:extLst>
              <a:ext uri="{FF2B5EF4-FFF2-40B4-BE49-F238E27FC236}">
                <a16:creationId xmlns:a16="http://schemas.microsoft.com/office/drawing/2014/main" id="{027497A5-858E-BB2E-A6B6-CA8FBFAB95E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2D943DB-5C2B-C442-0138-A59490FAE9C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3309954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4F5E2-D9C5-72D8-3325-1270FEF51A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2ED2494-1975-10C4-13E6-69354CEB17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B55D0C-3941-5B45-3732-F271C5AA295A}"/>
              </a:ext>
            </a:extLst>
          </p:cNvPr>
          <p:cNvSpPr>
            <a:spLocks noGrp="1"/>
          </p:cNvSpPr>
          <p:nvPr>
            <p:ph type="dt" sz="half" idx="10"/>
          </p:nvPr>
        </p:nvSpPr>
        <p:spPr/>
        <p:txBody>
          <a:bodyPr/>
          <a:lstStyle/>
          <a:p>
            <a:fld id="{CAE507A8-A5CF-4D38-AB86-7EDDA87A85D4}" type="datetime1">
              <a:rPr lang="en-US" smtClean="0"/>
              <a:t>12/10/2025</a:t>
            </a:fld>
            <a:endParaRPr lang="en-US" dirty="0"/>
          </a:p>
        </p:txBody>
      </p:sp>
      <p:sp>
        <p:nvSpPr>
          <p:cNvPr id="5" name="Footer Placeholder 4">
            <a:extLst>
              <a:ext uri="{FF2B5EF4-FFF2-40B4-BE49-F238E27FC236}">
                <a16:creationId xmlns:a16="http://schemas.microsoft.com/office/drawing/2014/main" id="{D2875C0E-8F84-8D52-9160-46294099EA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902B3B8-EEC5-4172-F079-57D5877567BC}"/>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633711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38B6E-27BA-AAFE-99C1-ED57CE48A9F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A5803A1-EAC5-ACAD-2203-3D4A95FC0B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A9AFB6E-F6FF-9286-74D3-614D226DF6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EA25188-9F3E-EEC3-7D1A-D8A82919E31F}"/>
              </a:ext>
            </a:extLst>
          </p:cNvPr>
          <p:cNvSpPr>
            <a:spLocks noGrp="1"/>
          </p:cNvSpPr>
          <p:nvPr>
            <p:ph type="dt" sz="half" idx="10"/>
          </p:nvPr>
        </p:nvSpPr>
        <p:spPr/>
        <p:txBody>
          <a:bodyPr/>
          <a:lstStyle/>
          <a:p>
            <a:fld id="{073ED0CC-082F-4160-86E5-0D6041F12778}" type="datetime1">
              <a:rPr lang="en-US" smtClean="0"/>
              <a:t>12/10/2025</a:t>
            </a:fld>
            <a:endParaRPr lang="en-US" dirty="0"/>
          </a:p>
        </p:txBody>
      </p:sp>
      <p:sp>
        <p:nvSpPr>
          <p:cNvPr id="6" name="Footer Placeholder 5">
            <a:extLst>
              <a:ext uri="{FF2B5EF4-FFF2-40B4-BE49-F238E27FC236}">
                <a16:creationId xmlns:a16="http://schemas.microsoft.com/office/drawing/2014/main" id="{EAAA17A3-D152-C5F3-8F07-8220B61BA13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75E1551-B7DC-5CA0-5DD7-E2C3725F0C4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694844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5FA37-0984-4E0B-184B-7F84FD125B2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773B770-FAEB-5B0A-5347-830EFAB895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A378AA0-AA9B-1E4A-7DD0-BD7C56B7BC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A3952DD-16F6-F459-BB69-5A327A69F9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5F03EF1-E1B1-C568-46FD-48B9A007E8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5E6AFAD-AB6E-6174-470D-C60C8778E5C3}"/>
              </a:ext>
            </a:extLst>
          </p:cNvPr>
          <p:cNvSpPr>
            <a:spLocks noGrp="1"/>
          </p:cNvSpPr>
          <p:nvPr>
            <p:ph type="dt" sz="half" idx="10"/>
          </p:nvPr>
        </p:nvSpPr>
        <p:spPr/>
        <p:txBody>
          <a:bodyPr/>
          <a:lstStyle/>
          <a:p>
            <a:fld id="{073ED0CC-082F-4160-86E5-0D6041F12778}" type="datetime1">
              <a:rPr lang="en-US" smtClean="0"/>
              <a:t>12/10/2025</a:t>
            </a:fld>
            <a:endParaRPr lang="en-US" dirty="0"/>
          </a:p>
        </p:txBody>
      </p:sp>
      <p:sp>
        <p:nvSpPr>
          <p:cNvPr id="8" name="Footer Placeholder 7">
            <a:extLst>
              <a:ext uri="{FF2B5EF4-FFF2-40B4-BE49-F238E27FC236}">
                <a16:creationId xmlns:a16="http://schemas.microsoft.com/office/drawing/2014/main" id="{275998B5-2197-7F85-1A54-9F0F3FB7C519}"/>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996A15E-77D1-4D1C-FB2C-34D06F48F3C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3746431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20CF8-393E-E679-4D42-BBF0037EED1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D9548BE-11C4-F458-211E-C20E394BA9CB}"/>
              </a:ext>
            </a:extLst>
          </p:cNvPr>
          <p:cNvSpPr>
            <a:spLocks noGrp="1"/>
          </p:cNvSpPr>
          <p:nvPr>
            <p:ph type="dt" sz="half" idx="10"/>
          </p:nvPr>
        </p:nvSpPr>
        <p:spPr/>
        <p:txBody>
          <a:bodyPr/>
          <a:lstStyle/>
          <a:p>
            <a:fld id="{A143DE9B-B678-4EFB-BB7D-A4370204A0B0}" type="datetime1">
              <a:rPr lang="en-US" smtClean="0"/>
              <a:t>12/10/2025</a:t>
            </a:fld>
            <a:endParaRPr lang="en-US" dirty="0"/>
          </a:p>
        </p:txBody>
      </p:sp>
      <p:sp>
        <p:nvSpPr>
          <p:cNvPr id="4" name="Footer Placeholder 3">
            <a:extLst>
              <a:ext uri="{FF2B5EF4-FFF2-40B4-BE49-F238E27FC236}">
                <a16:creationId xmlns:a16="http://schemas.microsoft.com/office/drawing/2014/main" id="{CEF6CF2E-AB0B-19F5-AB3C-3DF835FEF87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7FD19347-184C-423D-609C-8A7C3B06CFBD}"/>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15721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D6C622-110F-E25D-9B34-82CA9D9E1D9F}"/>
              </a:ext>
            </a:extLst>
          </p:cNvPr>
          <p:cNvSpPr>
            <a:spLocks noGrp="1"/>
          </p:cNvSpPr>
          <p:nvPr>
            <p:ph type="dt" sz="half" idx="10"/>
          </p:nvPr>
        </p:nvSpPr>
        <p:spPr/>
        <p:txBody>
          <a:bodyPr/>
          <a:lstStyle/>
          <a:p>
            <a:fld id="{E68812DA-F765-4142-A6A3-A8ED7235E082}" type="datetime1">
              <a:rPr lang="en-US" smtClean="0"/>
              <a:t>12/10/2025</a:t>
            </a:fld>
            <a:endParaRPr lang="en-US" dirty="0"/>
          </a:p>
        </p:txBody>
      </p:sp>
      <p:sp>
        <p:nvSpPr>
          <p:cNvPr id="3" name="Footer Placeholder 2">
            <a:extLst>
              <a:ext uri="{FF2B5EF4-FFF2-40B4-BE49-F238E27FC236}">
                <a16:creationId xmlns:a16="http://schemas.microsoft.com/office/drawing/2014/main" id="{4B913168-F3E8-EBCB-377F-094C0343A75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56E5F9CA-5897-A69E-4D6B-8CA8BC4DB612}"/>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05361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A1201-6BD6-04C1-38FE-05370C0834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8C57A2A-AD97-43EE-2B0A-B87EECD023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FD66B9C-880E-729C-B30C-C4A9E3FE76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D6FEB1-39FD-2C1D-1733-54D9E8975E22}"/>
              </a:ext>
            </a:extLst>
          </p:cNvPr>
          <p:cNvSpPr>
            <a:spLocks noGrp="1"/>
          </p:cNvSpPr>
          <p:nvPr>
            <p:ph type="dt" sz="half" idx="10"/>
          </p:nvPr>
        </p:nvSpPr>
        <p:spPr/>
        <p:txBody>
          <a:bodyPr/>
          <a:lstStyle/>
          <a:p>
            <a:fld id="{073ED0CC-082F-4160-86E5-0D6041F12778}" type="datetime1">
              <a:rPr lang="en-US" smtClean="0"/>
              <a:t>12/10/2025</a:t>
            </a:fld>
            <a:endParaRPr lang="en-US" dirty="0"/>
          </a:p>
        </p:txBody>
      </p:sp>
      <p:sp>
        <p:nvSpPr>
          <p:cNvPr id="6" name="Footer Placeholder 5">
            <a:extLst>
              <a:ext uri="{FF2B5EF4-FFF2-40B4-BE49-F238E27FC236}">
                <a16:creationId xmlns:a16="http://schemas.microsoft.com/office/drawing/2014/main" id="{11D74D30-BD5F-C980-A37D-E15A976CAA6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5A0322B-65A9-97A9-8C47-AE9F27B705E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8036813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F2657-8072-0C88-0705-3FAB65E9D0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26B0C08-DCF1-A498-C650-E9897F4ED6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096D638-8168-9256-B350-44FCD7DCF8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9D6D4B-4880-0263-70A6-C36C53AA2254}"/>
              </a:ext>
            </a:extLst>
          </p:cNvPr>
          <p:cNvSpPr>
            <a:spLocks noGrp="1"/>
          </p:cNvSpPr>
          <p:nvPr>
            <p:ph type="dt" sz="half" idx="10"/>
          </p:nvPr>
        </p:nvSpPr>
        <p:spPr/>
        <p:txBody>
          <a:bodyPr/>
          <a:lstStyle/>
          <a:p>
            <a:fld id="{9EA15526-7079-4B7B-987C-1B5FAE11A0FF}" type="datetime1">
              <a:rPr lang="en-US" smtClean="0"/>
              <a:t>12/10/2025</a:t>
            </a:fld>
            <a:endParaRPr lang="en-US" dirty="0"/>
          </a:p>
        </p:txBody>
      </p:sp>
      <p:sp>
        <p:nvSpPr>
          <p:cNvPr id="6" name="Footer Placeholder 5">
            <a:extLst>
              <a:ext uri="{FF2B5EF4-FFF2-40B4-BE49-F238E27FC236}">
                <a16:creationId xmlns:a16="http://schemas.microsoft.com/office/drawing/2014/main" id="{D7C6687A-2367-3954-0D32-00A0EAFE5892}"/>
              </a:ext>
            </a:extLst>
          </p:cNvPr>
          <p:cNvSpPr>
            <a:spLocks noGrp="1"/>
          </p:cNvSpPr>
          <p:nvPr>
            <p:ph type="ftr" sz="quarter" idx="11"/>
          </p:nvPr>
        </p:nvSpPr>
        <p:spPr/>
        <p:txBody>
          <a:bodyPr/>
          <a:lstStyle/>
          <a:p>
            <a:pPr algn="l"/>
            <a:endParaRPr lang="en-US" dirty="0"/>
          </a:p>
        </p:txBody>
      </p:sp>
      <p:sp>
        <p:nvSpPr>
          <p:cNvPr id="7" name="Slide Number Placeholder 6">
            <a:extLst>
              <a:ext uri="{FF2B5EF4-FFF2-40B4-BE49-F238E27FC236}">
                <a16:creationId xmlns:a16="http://schemas.microsoft.com/office/drawing/2014/main" id="{C2A746A7-E533-70AB-392F-54DC38136886}"/>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52573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A3809-B853-FEA7-7EB1-E4C50D7BEBE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1268F3A-8881-7A4C-82A3-B5DF265717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F3B3A6-CEB6-74DC-F14B-72A4FA56F624}"/>
              </a:ext>
            </a:extLst>
          </p:cNvPr>
          <p:cNvSpPr>
            <a:spLocks noGrp="1"/>
          </p:cNvSpPr>
          <p:nvPr>
            <p:ph type="dt" sz="half" idx="10"/>
          </p:nvPr>
        </p:nvSpPr>
        <p:spPr/>
        <p:txBody>
          <a:bodyPr/>
          <a:lstStyle/>
          <a:p>
            <a:fld id="{073ED0CC-082F-4160-86E5-0D6041F12778}" type="datetime1">
              <a:rPr lang="en-US" smtClean="0"/>
              <a:t>12/10/2025</a:t>
            </a:fld>
            <a:endParaRPr lang="en-US" dirty="0"/>
          </a:p>
        </p:txBody>
      </p:sp>
      <p:sp>
        <p:nvSpPr>
          <p:cNvPr id="5" name="Footer Placeholder 4">
            <a:extLst>
              <a:ext uri="{FF2B5EF4-FFF2-40B4-BE49-F238E27FC236}">
                <a16:creationId xmlns:a16="http://schemas.microsoft.com/office/drawing/2014/main" id="{5638D2A1-1011-89B5-57CE-B6C5DE04EB9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9F67C28-A393-F0BA-539E-A720A5D3418B}"/>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172060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EECC5A-E1CC-747E-7F89-D1C8E29697D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1A4748F-340A-7817-FA09-8C5F7F2D3F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16A932-A5BC-FFAD-CFD4-9CF8384799EE}"/>
              </a:ext>
            </a:extLst>
          </p:cNvPr>
          <p:cNvSpPr>
            <a:spLocks noGrp="1"/>
          </p:cNvSpPr>
          <p:nvPr>
            <p:ph type="dt" sz="half" idx="10"/>
          </p:nvPr>
        </p:nvSpPr>
        <p:spPr/>
        <p:txBody>
          <a:bodyPr/>
          <a:lstStyle/>
          <a:p>
            <a:fld id="{073ED0CC-082F-4160-86E5-0D6041F12778}" type="datetime1">
              <a:rPr lang="en-US" smtClean="0"/>
              <a:t>12/10/2025</a:t>
            </a:fld>
            <a:endParaRPr lang="en-US" dirty="0"/>
          </a:p>
        </p:txBody>
      </p:sp>
      <p:sp>
        <p:nvSpPr>
          <p:cNvPr id="5" name="Footer Placeholder 4">
            <a:extLst>
              <a:ext uri="{FF2B5EF4-FFF2-40B4-BE49-F238E27FC236}">
                <a16:creationId xmlns:a16="http://schemas.microsoft.com/office/drawing/2014/main" id="{DE188217-B1E5-A8A0-8770-815EE92BB79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2C8C53F-F644-ECFA-50E3-1B2B882C71E1}"/>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4455407"/>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9328D9-96AF-A3FC-8762-004909C87B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A7DF78F-ADA3-434A-FD32-EB0FE2614E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3A84AD-A539-1752-6D76-893A500368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3ED0CC-082F-4160-86E5-0D6041F12778}" type="datetime1">
              <a:rPr lang="en-US" smtClean="0"/>
              <a:t>12/10/2025</a:t>
            </a:fld>
            <a:endParaRPr lang="en-US" dirty="0"/>
          </a:p>
        </p:txBody>
      </p:sp>
      <p:sp>
        <p:nvSpPr>
          <p:cNvPr id="5" name="Footer Placeholder 4">
            <a:extLst>
              <a:ext uri="{FF2B5EF4-FFF2-40B4-BE49-F238E27FC236}">
                <a16:creationId xmlns:a16="http://schemas.microsoft.com/office/drawing/2014/main" id="{99B65FC9-92BB-A2AC-12CA-45A6B718FF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ACD3FF1B-6B5D-D4BD-51AD-3126C7AC5E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2771331558"/>
      </p:ext>
    </p:extLst>
  </p:cSld>
  <p:clrMap bg1="lt1" tx1="dk1" bg2="lt2" tx2="dk2" accent1="accent1" accent2="accent2" accent3="accent3" accent4="accent4" accent5="accent5" accent6="accent6" hlink="hlink" folHlink="folHlink"/>
  <p:sldLayoutIdLst>
    <p:sldLayoutId id="2147483942" r:id="rId1"/>
    <p:sldLayoutId id="2147483943" r:id="rId2"/>
    <p:sldLayoutId id="2147483944" r:id="rId3"/>
    <p:sldLayoutId id="2147483945" r:id="rId4"/>
    <p:sldLayoutId id="2147483946" r:id="rId5"/>
    <p:sldLayoutId id="2147483947" r:id="rId6"/>
    <p:sldLayoutId id="2147483948" r:id="rId7"/>
    <p:sldLayoutId id="2147483949" r:id="rId8"/>
    <p:sldLayoutId id="2147483950" r:id="rId9"/>
    <p:sldLayoutId id="2147483951" r:id="rId10"/>
    <p:sldLayoutId id="2147483952"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302727" y="1271895"/>
            <a:ext cx="11369040" cy="2931016"/>
          </a:xfrm>
        </p:spPr>
        <p:txBody>
          <a:bodyPr>
            <a:normAutofit/>
          </a:bodyPr>
          <a:lstStyle/>
          <a:p>
            <a:pPr algn="ctr"/>
            <a:r>
              <a:rPr lang="en-US" sz="8000" b="1" dirty="0">
                <a:solidFill>
                  <a:schemeClr val="tx1"/>
                </a:solidFill>
                <a:latin typeface="+mn-lt"/>
                <a:cs typeface="Arial" panose="020B0604020202020204" pitchFamily="34" charset="0"/>
              </a:rPr>
              <a:t>Zomato Restaurant Analysis</a:t>
            </a:r>
            <a:endParaRPr lang="en-US" sz="7200" dirty="0">
              <a:solidFill>
                <a:schemeClr val="tx1"/>
              </a:solidFill>
              <a:latin typeface="+mn-lt"/>
            </a:endParaRPr>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440754" y="4969108"/>
            <a:ext cx="3095547" cy="1711609"/>
          </a:xfrm>
        </p:spPr>
        <p:txBody>
          <a:bodyPr>
            <a:normAutofit/>
          </a:bodyPr>
          <a:lstStyle/>
          <a:p>
            <a:r>
              <a:rPr lang="en-US" sz="2800" b="1" dirty="0"/>
              <a:t>By:-</a:t>
            </a:r>
          </a:p>
          <a:p>
            <a:r>
              <a:rPr lang="en-US" sz="2800" b="1" dirty="0"/>
              <a:t>OMKAR GUPTA</a:t>
            </a:r>
          </a:p>
          <a:p>
            <a:r>
              <a:rPr lang="en-US" sz="2800" b="1" dirty="0"/>
              <a:t>DS-OCT 2025</a:t>
            </a:r>
          </a:p>
        </p:txBody>
      </p:sp>
    </p:spTree>
    <p:extLst>
      <p:ext uri="{BB962C8B-B14F-4D97-AF65-F5344CB8AC3E}">
        <p14:creationId xmlns:p14="http://schemas.microsoft.com/office/powerpoint/2010/main" val="633738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A748D-BEEC-43A4-BFF3-B31C0275A5D9}"/>
              </a:ext>
            </a:extLst>
          </p:cNvPr>
          <p:cNvSpPr>
            <a:spLocks noGrp="1"/>
          </p:cNvSpPr>
          <p:nvPr>
            <p:ph type="title"/>
          </p:nvPr>
        </p:nvSpPr>
        <p:spPr>
          <a:xfrm>
            <a:off x="913795" y="376518"/>
            <a:ext cx="10353762" cy="1075764"/>
          </a:xfrm>
        </p:spPr>
        <p:txBody>
          <a:bodyPr>
            <a:normAutofit/>
          </a:bodyPr>
          <a:lstStyle/>
          <a:p>
            <a:pPr algn="ctr"/>
            <a:r>
              <a:rPr lang="en-IN" b="1" dirty="0">
                <a:latin typeface="+mn-lt"/>
              </a:rPr>
              <a:t>Introduction to Zomato</a:t>
            </a:r>
            <a:endParaRPr lang="en-US" dirty="0">
              <a:latin typeface="+mn-lt"/>
            </a:endParaRPr>
          </a:p>
        </p:txBody>
      </p:sp>
      <p:sp>
        <p:nvSpPr>
          <p:cNvPr id="3" name="Content Placeholder 2">
            <a:extLst>
              <a:ext uri="{FF2B5EF4-FFF2-40B4-BE49-F238E27FC236}">
                <a16:creationId xmlns:a16="http://schemas.microsoft.com/office/drawing/2014/main" id="{E0671140-D793-4AB7-8794-755FAD0B56AF}"/>
              </a:ext>
            </a:extLst>
          </p:cNvPr>
          <p:cNvSpPr>
            <a:spLocks noGrp="1"/>
          </p:cNvSpPr>
          <p:nvPr>
            <p:ph idx="1"/>
          </p:nvPr>
        </p:nvSpPr>
        <p:spPr>
          <a:xfrm>
            <a:off x="1161732" y="1621366"/>
            <a:ext cx="8534400" cy="4179994"/>
          </a:xfrm>
        </p:spPr>
        <p:txBody>
          <a:bodyPr>
            <a:normAutofit/>
          </a:bodyPr>
          <a:lstStyle/>
          <a:p>
            <a:pPr marL="0" lvl="0" indent="0" algn="just">
              <a:buNone/>
            </a:pPr>
            <a:r>
              <a:rPr lang="en-US" sz="2000" b="1" dirty="0">
                <a:solidFill>
                  <a:schemeClr val="accent5"/>
                </a:solidFill>
                <a:effectLst/>
              </a:rPr>
              <a:t>History</a:t>
            </a:r>
          </a:p>
          <a:p>
            <a:pPr marL="914400" lvl="2" indent="0" algn="just">
              <a:buNone/>
            </a:pPr>
            <a:r>
              <a:rPr lang="en-US" dirty="0">
                <a:solidFill>
                  <a:schemeClr val="tx2">
                    <a:lumMod val="75000"/>
                  </a:schemeClr>
                </a:solidFill>
                <a:effectLst/>
              </a:rPr>
              <a:t>Zomato was founded in 2008 as a restaurant discovery platform in India. It started as a website that provided information about restaurants, including menus, reviews, and ratings.</a:t>
            </a:r>
          </a:p>
          <a:p>
            <a:pPr marL="0" lvl="0" indent="0" algn="just">
              <a:buNone/>
            </a:pPr>
            <a:r>
              <a:rPr lang="en-US" sz="2000" b="1" dirty="0">
                <a:solidFill>
                  <a:schemeClr val="accent5"/>
                </a:solidFill>
                <a:effectLst/>
              </a:rPr>
              <a:t>Mission</a:t>
            </a:r>
          </a:p>
          <a:p>
            <a:pPr marL="914400" lvl="2" indent="0" algn="just">
              <a:buNone/>
            </a:pPr>
            <a:r>
              <a:rPr lang="en-US" dirty="0">
                <a:solidFill>
                  <a:schemeClr val="tx2">
                    <a:lumMod val="75000"/>
                  </a:schemeClr>
                </a:solidFill>
                <a:effectLst/>
              </a:rPr>
              <a:t>Zomato's mission is to ensure that everyone can find and enjoy great food. They aim to connect users with the best dining experiences by providing accurate and comprehensive information about restaurants.</a:t>
            </a:r>
            <a:endParaRPr lang="en-US" sz="2400" dirty="0">
              <a:solidFill>
                <a:schemeClr val="tx2">
                  <a:lumMod val="75000"/>
                </a:schemeClr>
              </a:solidFill>
            </a:endParaRPr>
          </a:p>
          <a:p>
            <a:pPr marL="0" indent="0" algn="just">
              <a:buNone/>
            </a:pPr>
            <a:r>
              <a:rPr lang="en-US" sz="2000" b="1" dirty="0">
                <a:solidFill>
                  <a:schemeClr val="accent5"/>
                </a:solidFill>
              </a:rPr>
              <a:t>User Base</a:t>
            </a:r>
          </a:p>
          <a:p>
            <a:pPr marL="914400" lvl="2" indent="0" algn="just">
              <a:buNone/>
            </a:pPr>
            <a:r>
              <a:rPr lang="en-US" dirty="0">
                <a:solidFill>
                  <a:schemeClr val="tx2">
                    <a:lumMod val="75000"/>
                  </a:schemeClr>
                </a:solidFill>
                <a:effectLst/>
              </a:rPr>
              <a:t>Zomato has a large and diverse user base, with millions of active users worldwide. It is available in multiple countries and supports multiple languages, making it accessible to a global audience.</a:t>
            </a:r>
            <a:endParaRPr lang="en-US" dirty="0">
              <a:solidFill>
                <a:schemeClr val="tx2">
                  <a:lumMod val="75000"/>
                </a:schemeClr>
              </a:solidFill>
            </a:endParaRPr>
          </a:p>
        </p:txBody>
      </p:sp>
    </p:spTree>
    <p:extLst>
      <p:ext uri="{BB962C8B-B14F-4D97-AF65-F5344CB8AC3E}">
        <p14:creationId xmlns:p14="http://schemas.microsoft.com/office/powerpoint/2010/main" val="26890897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DA99D-9DE2-EA36-9887-72E95B54ED6D}"/>
              </a:ext>
            </a:extLst>
          </p:cNvPr>
          <p:cNvSpPr>
            <a:spLocks noGrp="1"/>
          </p:cNvSpPr>
          <p:nvPr>
            <p:ph type="title"/>
          </p:nvPr>
        </p:nvSpPr>
        <p:spPr>
          <a:xfrm>
            <a:off x="913795" y="609600"/>
            <a:ext cx="7183725" cy="1257300"/>
          </a:xfrm>
        </p:spPr>
        <p:txBody>
          <a:bodyPr>
            <a:normAutofit/>
          </a:bodyPr>
          <a:lstStyle/>
          <a:p>
            <a:pPr algn="ctr"/>
            <a:r>
              <a:rPr lang="en-US" b="1" dirty="0">
                <a:latin typeface="+mn-lt"/>
              </a:rPr>
              <a:t>Project Aim</a:t>
            </a:r>
            <a:endParaRPr lang="en-IN" dirty="0">
              <a:latin typeface="+mn-lt"/>
            </a:endParaRPr>
          </a:p>
        </p:txBody>
      </p:sp>
      <p:sp>
        <p:nvSpPr>
          <p:cNvPr id="3" name="Content Placeholder 2">
            <a:extLst>
              <a:ext uri="{FF2B5EF4-FFF2-40B4-BE49-F238E27FC236}">
                <a16:creationId xmlns:a16="http://schemas.microsoft.com/office/drawing/2014/main" id="{5CDC1F03-0DAC-4731-77AD-5F0F167D1E81}"/>
              </a:ext>
            </a:extLst>
          </p:cNvPr>
          <p:cNvSpPr>
            <a:spLocks noGrp="1"/>
          </p:cNvSpPr>
          <p:nvPr>
            <p:ph idx="1"/>
          </p:nvPr>
        </p:nvSpPr>
        <p:spPr>
          <a:xfrm>
            <a:off x="913795" y="2076450"/>
            <a:ext cx="5289781" cy="3714749"/>
          </a:xfrm>
        </p:spPr>
        <p:txBody>
          <a:bodyPr>
            <a:normAutofit/>
          </a:bodyPr>
          <a:lstStyle/>
          <a:p>
            <a:pPr marL="0" indent="0" algn="just">
              <a:buNone/>
            </a:pPr>
            <a:r>
              <a:rPr lang="en-GB" sz="2000" dirty="0">
                <a:solidFill>
                  <a:schemeClr val="tx1"/>
                </a:solidFill>
                <a:effectLst>
                  <a:outerShdw blurRad="38100" dist="38100" dir="2700000" algn="tl">
                    <a:srgbClr val="000000">
                      <a:alpha val="43137"/>
                    </a:srgbClr>
                  </a:outerShdw>
                </a:effectLst>
              </a:rPr>
              <a:t>To identify optimal countries and cities for opening new restaurants by analysing existing restaurant performance, market demand, and economic factors, ensuring profitable and strategic expansion.</a:t>
            </a:r>
            <a:endParaRPr lang="en-IN" sz="2000" dirty="0"/>
          </a:p>
        </p:txBody>
      </p:sp>
      <p:pic>
        <p:nvPicPr>
          <p:cNvPr id="6" name="Picture 5">
            <a:extLst>
              <a:ext uri="{FF2B5EF4-FFF2-40B4-BE49-F238E27FC236}">
                <a16:creationId xmlns:a16="http://schemas.microsoft.com/office/drawing/2014/main" id="{24587EEC-669A-82E7-11F7-8460B93E1E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47098" y="422645"/>
            <a:ext cx="4683120" cy="5715000"/>
          </a:xfrm>
          <a:prstGeom prst="rect">
            <a:avLst/>
          </a:prstGeom>
          <a:solidFill>
            <a:srgbClr val="00B0F0"/>
          </a:solidFill>
        </p:spPr>
      </p:pic>
    </p:spTree>
    <p:extLst>
      <p:ext uri="{BB962C8B-B14F-4D97-AF65-F5344CB8AC3E}">
        <p14:creationId xmlns:p14="http://schemas.microsoft.com/office/powerpoint/2010/main" val="1006274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B5FAF3F-126B-DDBD-B321-95EB21C7DD9F}"/>
              </a:ext>
            </a:extLst>
          </p:cNvPr>
          <p:cNvSpPr>
            <a:spLocks noGrp="1"/>
          </p:cNvSpPr>
          <p:nvPr>
            <p:ph type="title"/>
          </p:nvPr>
        </p:nvSpPr>
        <p:spPr>
          <a:xfrm>
            <a:off x="913795" y="114300"/>
            <a:ext cx="10353762" cy="923925"/>
          </a:xfrm>
        </p:spPr>
        <p:txBody>
          <a:bodyPr>
            <a:normAutofit/>
          </a:bodyPr>
          <a:lstStyle/>
          <a:p>
            <a:pPr algn="ctr"/>
            <a:r>
              <a:rPr lang="en-US" b="1" dirty="0">
                <a:latin typeface="+mn-lt"/>
              </a:rPr>
              <a:t>Data Overview</a:t>
            </a:r>
            <a:endParaRPr lang="en-IN" dirty="0">
              <a:latin typeface="+mn-lt"/>
            </a:endParaRPr>
          </a:p>
        </p:txBody>
      </p:sp>
      <p:sp>
        <p:nvSpPr>
          <p:cNvPr id="8" name="Content Placeholder 7">
            <a:extLst>
              <a:ext uri="{FF2B5EF4-FFF2-40B4-BE49-F238E27FC236}">
                <a16:creationId xmlns:a16="http://schemas.microsoft.com/office/drawing/2014/main" id="{25312BAB-FDA6-8994-06D4-AA065287315C}"/>
              </a:ext>
            </a:extLst>
          </p:cNvPr>
          <p:cNvSpPr>
            <a:spLocks noGrp="1"/>
          </p:cNvSpPr>
          <p:nvPr>
            <p:ph sz="half" idx="1"/>
          </p:nvPr>
        </p:nvSpPr>
        <p:spPr>
          <a:xfrm>
            <a:off x="913795" y="1038226"/>
            <a:ext cx="5316676" cy="5553074"/>
          </a:xfrm>
        </p:spPr>
        <p:txBody>
          <a:bodyPr>
            <a:noAutofit/>
          </a:bodyPr>
          <a:lstStyle/>
          <a:p>
            <a:pPr marL="488950" marR="0" lvl="0" indent="-342900" algn="just" rtl="0">
              <a:lnSpc>
                <a:spcPct val="115000"/>
              </a:lnSpc>
              <a:spcBef>
                <a:spcPts val="0"/>
              </a:spcBef>
              <a:spcAft>
                <a:spcPts val="0"/>
              </a:spcAft>
              <a:buClr>
                <a:schemeClr val="tx1"/>
              </a:buClr>
              <a:buSzPts val="1300"/>
              <a:buFont typeface="Arial" panose="020B0604020202020204" pitchFamily="34" charset="0"/>
              <a:buChar char="•"/>
            </a:pPr>
            <a:r>
              <a:rPr lang="en-US" sz="1600" b="1" i="0" u="none" strike="noStrike" cap="none" dirty="0">
                <a:solidFill>
                  <a:schemeClr val="tx1"/>
                </a:solidFill>
                <a:ea typeface="Lato"/>
                <a:cs typeface="Lato"/>
                <a:sym typeface="Lato"/>
              </a:rPr>
              <a:t>Restaurant ID: </a:t>
            </a:r>
            <a:r>
              <a:rPr lang="en-US" sz="1600" b="0" i="0" u="none" strike="noStrike" cap="none" dirty="0">
                <a:solidFill>
                  <a:schemeClr val="tx1"/>
                </a:solidFill>
                <a:ea typeface="Lato"/>
                <a:cs typeface="Lato"/>
                <a:sym typeface="Lato"/>
              </a:rPr>
              <a:t>Unique identifier for each restaurant.</a:t>
            </a:r>
          </a:p>
          <a:p>
            <a:pPr marL="488950" marR="0" lvl="0" indent="-342900" algn="just" rtl="0">
              <a:lnSpc>
                <a:spcPct val="115000"/>
              </a:lnSpc>
              <a:spcBef>
                <a:spcPts val="0"/>
              </a:spcBef>
              <a:spcAft>
                <a:spcPts val="0"/>
              </a:spcAft>
              <a:buClr>
                <a:schemeClr val="tx1"/>
              </a:buClr>
              <a:buSzPts val="1300"/>
              <a:buFont typeface="Arial" panose="020B0604020202020204" pitchFamily="34" charset="0"/>
              <a:buChar char="•"/>
            </a:pPr>
            <a:r>
              <a:rPr lang="en-US" sz="1600" b="1" i="0" u="none" strike="noStrike" cap="none" dirty="0">
                <a:solidFill>
                  <a:schemeClr val="tx1"/>
                </a:solidFill>
                <a:ea typeface="Lato"/>
                <a:cs typeface="Lato"/>
                <a:sym typeface="Lato"/>
              </a:rPr>
              <a:t>Restaurant Name: </a:t>
            </a:r>
            <a:r>
              <a:rPr lang="en-US" sz="1600" b="0" i="0" u="none" strike="noStrike" cap="none" dirty="0">
                <a:solidFill>
                  <a:schemeClr val="tx1"/>
                </a:solidFill>
                <a:ea typeface="Lato"/>
                <a:cs typeface="Lato"/>
                <a:sym typeface="Lato"/>
              </a:rPr>
              <a:t>The name of the restaurant.</a:t>
            </a:r>
          </a:p>
          <a:p>
            <a:pPr marL="488950" marR="0" lvl="0" indent="-342900" algn="just" rtl="0">
              <a:lnSpc>
                <a:spcPct val="115000"/>
              </a:lnSpc>
              <a:spcBef>
                <a:spcPts val="0"/>
              </a:spcBef>
              <a:spcAft>
                <a:spcPts val="0"/>
              </a:spcAft>
              <a:buClr>
                <a:schemeClr val="tx1"/>
              </a:buClr>
              <a:buSzPts val="1300"/>
              <a:buFont typeface="Arial" panose="020B0604020202020204" pitchFamily="34" charset="0"/>
              <a:buChar char="•"/>
            </a:pPr>
            <a:r>
              <a:rPr lang="en-US" sz="1600" b="1" i="0" u="none" strike="noStrike" cap="none" dirty="0">
                <a:solidFill>
                  <a:schemeClr val="tx1"/>
                </a:solidFill>
                <a:ea typeface="Lato"/>
                <a:cs typeface="Lato"/>
                <a:sym typeface="Lato"/>
              </a:rPr>
              <a:t>CountryCode: </a:t>
            </a:r>
            <a:r>
              <a:rPr lang="en-US" sz="1600" b="0" i="0" u="none" strike="noStrike" cap="none" dirty="0">
                <a:solidFill>
                  <a:schemeClr val="tx1"/>
                </a:solidFill>
                <a:ea typeface="Lato"/>
                <a:cs typeface="Lato"/>
                <a:sym typeface="Lato"/>
              </a:rPr>
              <a:t>Country code of the location where the restaurant is situated.</a:t>
            </a:r>
          </a:p>
          <a:p>
            <a:pPr marL="488950" indent="-342900" algn="just">
              <a:lnSpc>
                <a:spcPct val="115000"/>
              </a:lnSpc>
              <a:spcBef>
                <a:spcPts val="0"/>
              </a:spcBef>
              <a:buClr>
                <a:schemeClr val="tx1"/>
              </a:buClr>
              <a:buSzPts val="1300"/>
            </a:pPr>
            <a:r>
              <a:rPr lang="en-US" sz="1600" b="1" i="0" u="none" strike="noStrike" cap="none" dirty="0">
                <a:solidFill>
                  <a:schemeClr val="tx1"/>
                </a:solidFill>
                <a:ea typeface="Lato"/>
                <a:cs typeface="Lato"/>
                <a:sym typeface="Lato"/>
              </a:rPr>
              <a:t>Country: </a:t>
            </a:r>
            <a:r>
              <a:rPr lang="en-US" sz="1600" i="0" u="none" strike="noStrike" cap="none" dirty="0">
                <a:solidFill>
                  <a:schemeClr val="tx1"/>
                </a:solidFill>
                <a:ea typeface="Lato"/>
                <a:cs typeface="Lato"/>
                <a:sym typeface="Lato"/>
              </a:rPr>
              <a:t>The country of restaurant located.</a:t>
            </a:r>
            <a:endParaRPr lang="en-US" sz="1600" b="0" i="0" u="none" strike="noStrike" cap="none" dirty="0">
              <a:solidFill>
                <a:schemeClr val="tx1"/>
              </a:solidFill>
              <a:ea typeface="Lato"/>
              <a:cs typeface="Lato"/>
              <a:sym typeface="Lato"/>
            </a:endParaRPr>
          </a:p>
          <a:p>
            <a:pPr marL="488950" marR="0" lvl="0" indent="-342900" algn="just" rtl="0">
              <a:lnSpc>
                <a:spcPct val="115000"/>
              </a:lnSpc>
              <a:spcBef>
                <a:spcPts val="0"/>
              </a:spcBef>
              <a:spcAft>
                <a:spcPts val="0"/>
              </a:spcAft>
              <a:buClr>
                <a:schemeClr val="tx1"/>
              </a:buClr>
              <a:buSzPts val="1300"/>
              <a:buFont typeface="Arial" panose="020B0604020202020204" pitchFamily="34" charset="0"/>
              <a:buChar char="•"/>
            </a:pPr>
            <a:r>
              <a:rPr lang="en-US" sz="1600" b="1" i="0" u="none" strike="noStrike" cap="none" dirty="0">
                <a:solidFill>
                  <a:schemeClr val="tx1"/>
                </a:solidFill>
                <a:ea typeface="Lato"/>
                <a:cs typeface="Lato"/>
                <a:sym typeface="Lato"/>
              </a:rPr>
              <a:t>City: </a:t>
            </a:r>
            <a:r>
              <a:rPr lang="en-US" sz="1600" b="0" i="0" u="none" strike="noStrike" cap="none" dirty="0">
                <a:solidFill>
                  <a:schemeClr val="tx1"/>
                </a:solidFill>
                <a:ea typeface="Lato"/>
                <a:cs typeface="Lato"/>
                <a:sym typeface="Lato"/>
              </a:rPr>
              <a:t>The city where the restaurant is located.</a:t>
            </a:r>
          </a:p>
          <a:p>
            <a:pPr marL="488950" marR="0" lvl="0" indent="-342900" algn="just" rtl="0">
              <a:lnSpc>
                <a:spcPct val="115000"/>
              </a:lnSpc>
              <a:spcBef>
                <a:spcPts val="0"/>
              </a:spcBef>
              <a:spcAft>
                <a:spcPts val="0"/>
              </a:spcAft>
              <a:buClr>
                <a:schemeClr val="tx1"/>
              </a:buClr>
              <a:buSzPts val="1300"/>
              <a:buFont typeface="Arial" panose="020B0604020202020204" pitchFamily="34" charset="0"/>
              <a:buChar char="•"/>
            </a:pPr>
            <a:r>
              <a:rPr lang="en-US" sz="1600" b="1" i="0" u="none" strike="noStrike" cap="none" dirty="0">
                <a:solidFill>
                  <a:schemeClr val="tx1"/>
                </a:solidFill>
                <a:ea typeface="Lato"/>
                <a:cs typeface="Lato"/>
                <a:sym typeface="Lato"/>
              </a:rPr>
              <a:t>Address: </a:t>
            </a:r>
            <a:r>
              <a:rPr lang="en-US" sz="1600" b="0" i="0" u="none" strike="noStrike" cap="none" dirty="0">
                <a:solidFill>
                  <a:schemeClr val="tx1"/>
                </a:solidFill>
                <a:ea typeface="Lato"/>
                <a:cs typeface="Lato"/>
                <a:sym typeface="Lato"/>
              </a:rPr>
              <a:t>The specific address of the restaurant.</a:t>
            </a:r>
          </a:p>
          <a:p>
            <a:pPr marL="488950" marR="0" lvl="0" indent="-342900" algn="just" rtl="0">
              <a:lnSpc>
                <a:spcPct val="115000"/>
              </a:lnSpc>
              <a:spcBef>
                <a:spcPts val="0"/>
              </a:spcBef>
              <a:spcAft>
                <a:spcPts val="0"/>
              </a:spcAft>
              <a:buClr>
                <a:schemeClr val="tx1"/>
              </a:buClr>
              <a:buSzPts val="1300"/>
              <a:buFont typeface="Arial" panose="020B0604020202020204" pitchFamily="34" charset="0"/>
              <a:buChar char="•"/>
            </a:pPr>
            <a:r>
              <a:rPr lang="en-US" sz="1600" b="1" i="0" u="none" strike="noStrike" cap="none" dirty="0">
                <a:solidFill>
                  <a:schemeClr val="tx1"/>
                </a:solidFill>
                <a:ea typeface="Lato"/>
                <a:cs typeface="Lato"/>
                <a:sym typeface="Lato"/>
              </a:rPr>
              <a:t>Locality: </a:t>
            </a:r>
            <a:r>
              <a:rPr lang="en-US" sz="1600" b="0" i="0" u="none" strike="noStrike" cap="none" dirty="0">
                <a:solidFill>
                  <a:schemeClr val="tx1"/>
                </a:solidFill>
                <a:ea typeface="Lato"/>
                <a:cs typeface="Lato"/>
                <a:sym typeface="Lato"/>
              </a:rPr>
              <a:t>The locality or neighborhood where the restaurant is situated.</a:t>
            </a:r>
          </a:p>
          <a:p>
            <a:pPr marL="488950" marR="0" lvl="0" indent="-342900" algn="just" rtl="0">
              <a:lnSpc>
                <a:spcPct val="115000"/>
              </a:lnSpc>
              <a:spcBef>
                <a:spcPts val="0"/>
              </a:spcBef>
              <a:spcAft>
                <a:spcPts val="0"/>
              </a:spcAft>
              <a:buClr>
                <a:schemeClr val="tx1"/>
              </a:buClr>
              <a:buSzPts val="1300"/>
              <a:buFont typeface="Arial" panose="020B0604020202020204" pitchFamily="34" charset="0"/>
              <a:buChar char="•"/>
            </a:pPr>
            <a:r>
              <a:rPr lang="en-US" sz="1600" b="1" i="0" u="none" strike="noStrike" cap="none" dirty="0" err="1">
                <a:solidFill>
                  <a:schemeClr val="tx1"/>
                </a:solidFill>
                <a:ea typeface="Lato"/>
                <a:cs typeface="Lato"/>
                <a:sym typeface="Lato"/>
              </a:rPr>
              <a:t>LocalityVerbose</a:t>
            </a:r>
            <a:r>
              <a:rPr lang="en-US" sz="1600" b="1" i="0" u="none" strike="noStrike" cap="none" dirty="0">
                <a:solidFill>
                  <a:schemeClr val="tx1"/>
                </a:solidFill>
                <a:ea typeface="Lato"/>
                <a:cs typeface="Lato"/>
                <a:sym typeface="Lato"/>
              </a:rPr>
              <a:t>: </a:t>
            </a:r>
            <a:r>
              <a:rPr lang="en-US" sz="1600" b="0" i="0" u="none" strike="noStrike" cap="none" dirty="0">
                <a:solidFill>
                  <a:schemeClr val="tx1"/>
                </a:solidFill>
                <a:ea typeface="Lato"/>
                <a:cs typeface="Lato"/>
                <a:sym typeface="Lato"/>
              </a:rPr>
              <a:t>Detailed information about the locality.</a:t>
            </a:r>
          </a:p>
          <a:p>
            <a:pPr marL="488950" marR="0" lvl="0" indent="-342900" algn="just" rtl="0">
              <a:lnSpc>
                <a:spcPct val="115000"/>
              </a:lnSpc>
              <a:spcBef>
                <a:spcPts val="0"/>
              </a:spcBef>
              <a:spcAft>
                <a:spcPts val="0"/>
              </a:spcAft>
              <a:buClr>
                <a:schemeClr val="tx1"/>
              </a:buClr>
              <a:buSzPts val="1300"/>
              <a:buFont typeface="Arial" panose="020B0604020202020204" pitchFamily="34" charset="0"/>
              <a:buChar char="•"/>
            </a:pPr>
            <a:r>
              <a:rPr lang="en-US" sz="1600" b="1" i="0" u="none" strike="noStrike" cap="none" dirty="0">
                <a:solidFill>
                  <a:schemeClr val="tx1"/>
                </a:solidFill>
                <a:ea typeface="Lato"/>
                <a:cs typeface="Lato"/>
                <a:sym typeface="Lato"/>
              </a:rPr>
              <a:t>Longitude: </a:t>
            </a:r>
            <a:r>
              <a:rPr lang="en-US" sz="1600" b="0" i="0" u="none" strike="noStrike" cap="none" dirty="0">
                <a:solidFill>
                  <a:schemeClr val="tx1"/>
                </a:solidFill>
                <a:ea typeface="Lato"/>
                <a:cs typeface="Lato"/>
                <a:sym typeface="Lato"/>
              </a:rPr>
              <a:t>The geographical longitude coordinate of the restaurant.</a:t>
            </a:r>
          </a:p>
          <a:p>
            <a:pPr marL="488950" marR="0" lvl="0" indent="-342900" algn="just" rtl="0">
              <a:lnSpc>
                <a:spcPct val="115000"/>
              </a:lnSpc>
              <a:spcBef>
                <a:spcPts val="0"/>
              </a:spcBef>
              <a:spcAft>
                <a:spcPts val="0"/>
              </a:spcAft>
              <a:buClr>
                <a:schemeClr val="tx1"/>
              </a:buClr>
              <a:buSzPts val="1300"/>
              <a:buFont typeface="Arial" panose="020B0604020202020204" pitchFamily="34" charset="0"/>
              <a:buChar char="•"/>
            </a:pPr>
            <a:r>
              <a:rPr lang="en-US" sz="1600" b="1" i="0" u="none" strike="noStrike" cap="none" dirty="0">
                <a:solidFill>
                  <a:schemeClr val="tx1"/>
                </a:solidFill>
                <a:ea typeface="Lato"/>
                <a:cs typeface="Lato"/>
                <a:sym typeface="Lato"/>
              </a:rPr>
              <a:t>Latitude: </a:t>
            </a:r>
            <a:r>
              <a:rPr lang="en-US" sz="1600" b="0" i="0" u="none" strike="noStrike" cap="none" dirty="0">
                <a:solidFill>
                  <a:schemeClr val="tx1"/>
                </a:solidFill>
                <a:ea typeface="Lato"/>
                <a:cs typeface="Lato"/>
                <a:sym typeface="Lato"/>
              </a:rPr>
              <a:t>The geographical latitude coordinate of the restaurant.</a:t>
            </a:r>
          </a:p>
          <a:p>
            <a:pPr marL="488950" marR="0" lvl="0" indent="-342900" algn="just" rtl="0">
              <a:lnSpc>
                <a:spcPct val="115000"/>
              </a:lnSpc>
              <a:spcBef>
                <a:spcPts val="0"/>
              </a:spcBef>
              <a:spcAft>
                <a:spcPts val="0"/>
              </a:spcAft>
              <a:buClr>
                <a:schemeClr val="tx1"/>
              </a:buClr>
              <a:buSzPts val="1300"/>
              <a:buFont typeface="Arial" panose="020B0604020202020204" pitchFamily="34" charset="0"/>
              <a:buChar char="•"/>
            </a:pPr>
            <a:r>
              <a:rPr lang="en-US" sz="1600" b="1" i="0" u="none" strike="noStrike" cap="none" dirty="0">
                <a:solidFill>
                  <a:schemeClr val="tx1"/>
                </a:solidFill>
                <a:ea typeface="Lato"/>
                <a:cs typeface="Lato"/>
                <a:sym typeface="Lato"/>
              </a:rPr>
              <a:t>Updated_Cuisines: </a:t>
            </a:r>
            <a:r>
              <a:rPr lang="en-US" sz="1600" b="0" i="0" u="none" strike="noStrike" cap="none" dirty="0">
                <a:solidFill>
                  <a:schemeClr val="tx1"/>
                </a:solidFill>
                <a:ea typeface="Lato"/>
                <a:cs typeface="Lato"/>
                <a:sym typeface="Lato"/>
              </a:rPr>
              <a:t>The type of cuisine offered by the restaurant.</a:t>
            </a:r>
          </a:p>
          <a:p>
            <a:pPr marL="488950" marR="0" lvl="0" indent="-342900" algn="just" rtl="0">
              <a:lnSpc>
                <a:spcPct val="115000"/>
              </a:lnSpc>
              <a:spcBef>
                <a:spcPts val="0"/>
              </a:spcBef>
              <a:spcAft>
                <a:spcPts val="0"/>
              </a:spcAft>
              <a:buClr>
                <a:schemeClr val="tx1"/>
              </a:buClr>
              <a:buSzPts val="1300"/>
              <a:buFont typeface="Arial" panose="020B0604020202020204" pitchFamily="34" charset="0"/>
              <a:buChar char="•"/>
            </a:pPr>
            <a:r>
              <a:rPr lang="en-US" sz="1600" b="1" i="0" u="none" strike="noStrike" cap="none" dirty="0">
                <a:solidFill>
                  <a:schemeClr val="tx1"/>
                </a:solidFill>
                <a:ea typeface="Lato"/>
                <a:cs typeface="Lato"/>
                <a:sym typeface="Lato"/>
              </a:rPr>
              <a:t>Currency: </a:t>
            </a:r>
            <a:r>
              <a:rPr lang="en-US" sz="1600" b="0" i="0" u="none" strike="noStrike" cap="none" dirty="0">
                <a:solidFill>
                  <a:schemeClr val="tx1"/>
                </a:solidFill>
                <a:ea typeface="Lato"/>
                <a:cs typeface="Lato"/>
                <a:sym typeface="Lato"/>
              </a:rPr>
              <a:t>The currency used for transactions in the restaurant.</a:t>
            </a:r>
            <a:endParaRPr lang="en-IN" sz="1600" b="0" i="0" u="none" strike="noStrike" cap="none" dirty="0">
              <a:solidFill>
                <a:schemeClr val="tx1"/>
              </a:solidFill>
              <a:ea typeface="Lato"/>
              <a:cs typeface="Lato"/>
              <a:sym typeface="Lato"/>
            </a:endParaRPr>
          </a:p>
        </p:txBody>
      </p:sp>
      <p:sp>
        <p:nvSpPr>
          <p:cNvPr id="9" name="Content Placeholder 8">
            <a:extLst>
              <a:ext uri="{FF2B5EF4-FFF2-40B4-BE49-F238E27FC236}">
                <a16:creationId xmlns:a16="http://schemas.microsoft.com/office/drawing/2014/main" id="{BE99B04E-B1D3-BC5A-F05E-63FFE47182AF}"/>
              </a:ext>
            </a:extLst>
          </p:cNvPr>
          <p:cNvSpPr>
            <a:spLocks noGrp="1"/>
          </p:cNvSpPr>
          <p:nvPr>
            <p:ph sz="half" idx="2"/>
          </p:nvPr>
        </p:nvSpPr>
        <p:spPr>
          <a:xfrm>
            <a:off x="6090676" y="995363"/>
            <a:ext cx="5656729" cy="5638800"/>
          </a:xfrm>
        </p:spPr>
        <p:txBody>
          <a:bodyPr>
            <a:normAutofit fontScale="92500" lnSpcReduction="10000"/>
          </a:bodyPr>
          <a:lstStyle/>
          <a:p>
            <a:pPr marL="488950" indent="-342900" algn="just">
              <a:lnSpc>
                <a:spcPct val="115000"/>
              </a:lnSpc>
              <a:spcBef>
                <a:spcPts val="0"/>
              </a:spcBef>
              <a:spcAft>
                <a:spcPts val="0"/>
              </a:spcAft>
              <a:buClr>
                <a:schemeClr val="tx1"/>
              </a:buClr>
              <a:buSzPts val="1300"/>
              <a:buFont typeface="Arial" panose="020B0604020202020204" pitchFamily="34" charset="0"/>
              <a:buChar char="•"/>
            </a:pPr>
            <a:r>
              <a:rPr lang="en-US" sz="1600" b="1" i="0" u="none" strike="noStrike" cap="none" dirty="0" err="1">
                <a:solidFill>
                  <a:schemeClr val="tx1"/>
                </a:solidFill>
                <a:ea typeface="Lato"/>
                <a:cs typeface="Lato"/>
                <a:sym typeface="Lato"/>
              </a:rPr>
              <a:t>Has_Table_booking</a:t>
            </a:r>
            <a:r>
              <a:rPr lang="en-US" sz="1600" b="1" i="0" u="none" strike="noStrike" cap="none" dirty="0">
                <a:solidFill>
                  <a:schemeClr val="tx1"/>
                </a:solidFill>
                <a:ea typeface="Lato"/>
                <a:cs typeface="Lato"/>
                <a:sym typeface="Lato"/>
              </a:rPr>
              <a:t>: </a:t>
            </a:r>
            <a:r>
              <a:rPr lang="en-US" sz="1600" b="0" i="0" u="none" strike="noStrike" cap="none" dirty="0">
                <a:solidFill>
                  <a:schemeClr val="tx1"/>
                </a:solidFill>
                <a:ea typeface="Lato"/>
                <a:cs typeface="Lato"/>
                <a:sym typeface="Lato"/>
              </a:rPr>
              <a:t>Indicates whether the restaurant has a table booking option (Yes/No).</a:t>
            </a:r>
          </a:p>
          <a:p>
            <a:pPr marL="488950" indent="-342900" algn="just">
              <a:lnSpc>
                <a:spcPct val="115000"/>
              </a:lnSpc>
              <a:spcBef>
                <a:spcPts val="0"/>
              </a:spcBef>
              <a:spcAft>
                <a:spcPts val="0"/>
              </a:spcAft>
              <a:buClr>
                <a:schemeClr val="tx1"/>
              </a:buClr>
              <a:buSzPts val="1300"/>
              <a:buFont typeface="Arial" panose="020B0604020202020204" pitchFamily="34" charset="0"/>
              <a:buChar char="•"/>
            </a:pPr>
            <a:r>
              <a:rPr lang="en-US" sz="1600" b="1" i="0" u="none" strike="noStrike" cap="none" dirty="0">
                <a:solidFill>
                  <a:schemeClr val="tx1"/>
                </a:solidFill>
                <a:ea typeface="Lato"/>
                <a:cs typeface="Lato"/>
                <a:sym typeface="Lato"/>
              </a:rPr>
              <a:t>Has_Online_delivery: </a:t>
            </a:r>
            <a:r>
              <a:rPr lang="en-US" sz="1600" b="0" i="0" u="none" strike="noStrike" cap="none" dirty="0">
                <a:solidFill>
                  <a:schemeClr val="tx1"/>
                </a:solidFill>
                <a:ea typeface="Lato"/>
                <a:cs typeface="Lato"/>
                <a:sym typeface="Lato"/>
              </a:rPr>
              <a:t>Indicates whether the restaurant offers online delivery (Yes/No).</a:t>
            </a:r>
          </a:p>
          <a:p>
            <a:pPr marL="488950" indent="-342900" algn="just">
              <a:lnSpc>
                <a:spcPct val="115000"/>
              </a:lnSpc>
              <a:spcBef>
                <a:spcPts val="0"/>
              </a:spcBef>
              <a:spcAft>
                <a:spcPts val="0"/>
              </a:spcAft>
              <a:buClr>
                <a:schemeClr val="tx1"/>
              </a:buClr>
              <a:buSzPts val="1300"/>
              <a:buFont typeface="Arial" panose="020B0604020202020204" pitchFamily="34" charset="0"/>
              <a:buChar char="•"/>
            </a:pPr>
            <a:r>
              <a:rPr lang="en-US" sz="1600" b="1" i="0" u="none" strike="noStrike" cap="none" dirty="0">
                <a:solidFill>
                  <a:schemeClr val="tx1"/>
                </a:solidFill>
                <a:ea typeface="Lato"/>
                <a:cs typeface="Lato"/>
                <a:sym typeface="Lato"/>
              </a:rPr>
              <a:t>Is_delivering_now: </a:t>
            </a:r>
            <a:r>
              <a:rPr lang="en-US" sz="1600" b="0" i="0" u="none" strike="noStrike" cap="none" dirty="0">
                <a:solidFill>
                  <a:schemeClr val="tx1"/>
                </a:solidFill>
                <a:ea typeface="Lato"/>
                <a:cs typeface="Lato"/>
                <a:sym typeface="Lato"/>
              </a:rPr>
              <a:t>Indicates whether the restaurant is currently delivering (Yes/No).</a:t>
            </a:r>
          </a:p>
          <a:p>
            <a:pPr marL="488950" indent="-342900" algn="just">
              <a:lnSpc>
                <a:spcPct val="115000"/>
              </a:lnSpc>
              <a:spcBef>
                <a:spcPts val="0"/>
              </a:spcBef>
              <a:spcAft>
                <a:spcPts val="0"/>
              </a:spcAft>
              <a:buClr>
                <a:schemeClr val="tx1"/>
              </a:buClr>
              <a:buSzPts val="1300"/>
              <a:buFont typeface="Arial" panose="020B0604020202020204" pitchFamily="34" charset="0"/>
              <a:buChar char="•"/>
            </a:pPr>
            <a:r>
              <a:rPr lang="en-US" sz="1600" b="1" i="0" u="none" strike="noStrike" cap="none" dirty="0">
                <a:solidFill>
                  <a:schemeClr val="tx1"/>
                </a:solidFill>
                <a:ea typeface="Lato"/>
                <a:cs typeface="Lato"/>
                <a:sym typeface="Lato"/>
              </a:rPr>
              <a:t>Switch_to_order_menu: </a:t>
            </a:r>
            <a:r>
              <a:rPr lang="en-US" sz="1600" b="0" i="0" u="none" strike="noStrike" cap="none" dirty="0">
                <a:solidFill>
                  <a:schemeClr val="tx1"/>
                </a:solidFill>
                <a:ea typeface="Lato"/>
                <a:cs typeface="Lato"/>
                <a:sym typeface="Lato"/>
              </a:rPr>
              <a:t>Indicates whether users can switch to the order menu (Yes/No).</a:t>
            </a:r>
          </a:p>
          <a:p>
            <a:pPr marL="488950" indent="-342900" algn="just">
              <a:lnSpc>
                <a:spcPct val="115000"/>
              </a:lnSpc>
              <a:spcBef>
                <a:spcPts val="0"/>
              </a:spcBef>
              <a:spcAft>
                <a:spcPts val="0"/>
              </a:spcAft>
              <a:buClr>
                <a:schemeClr val="tx1"/>
              </a:buClr>
              <a:buSzPts val="1300"/>
              <a:buFont typeface="Arial" panose="020B0604020202020204" pitchFamily="34" charset="0"/>
              <a:buChar char="•"/>
            </a:pPr>
            <a:r>
              <a:rPr lang="en-US" sz="1600" b="1" i="0" u="none" strike="noStrike" cap="none" dirty="0">
                <a:solidFill>
                  <a:schemeClr val="tx1"/>
                </a:solidFill>
                <a:ea typeface="Lato"/>
                <a:cs typeface="Lato"/>
                <a:sym typeface="Lato"/>
              </a:rPr>
              <a:t>Price_range: </a:t>
            </a:r>
            <a:r>
              <a:rPr lang="en-US" sz="1600" b="0" i="0" u="none" strike="noStrike" cap="none" dirty="0">
                <a:solidFill>
                  <a:schemeClr val="tx1"/>
                </a:solidFill>
                <a:ea typeface="Lato"/>
                <a:cs typeface="Lato"/>
                <a:sym typeface="Lato"/>
              </a:rPr>
              <a:t>A numeric value indicating the price range category of the restaurant.</a:t>
            </a:r>
          </a:p>
          <a:p>
            <a:pPr marL="488950" indent="-342900" algn="just">
              <a:lnSpc>
                <a:spcPct val="115000"/>
              </a:lnSpc>
              <a:spcBef>
                <a:spcPts val="0"/>
              </a:spcBef>
              <a:spcAft>
                <a:spcPts val="0"/>
              </a:spcAft>
              <a:buClr>
                <a:schemeClr val="tx1"/>
              </a:buClr>
              <a:buSzPts val="1300"/>
              <a:buFont typeface="Arial" panose="020B0604020202020204" pitchFamily="34" charset="0"/>
              <a:buChar char="•"/>
            </a:pPr>
            <a:r>
              <a:rPr lang="en-US" sz="1600" b="1" i="0" u="none" strike="noStrike" cap="none" dirty="0">
                <a:solidFill>
                  <a:schemeClr val="tx1"/>
                </a:solidFill>
                <a:ea typeface="Lato"/>
                <a:cs typeface="Lato"/>
                <a:sym typeface="Lato"/>
              </a:rPr>
              <a:t>Votes: </a:t>
            </a:r>
            <a:r>
              <a:rPr lang="en-US" sz="1600" b="0" i="0" u="none" strike="noStrike" cap="none" dirty="0">
                <a:solidFill>
                  <a:schemeClr val="tx1"/>
                </a:solidFill>
                <a:ea typeface="Lato"/>
                <a:cs typeface="Lato"/>
                <a:sym typeface="Lato"/>
              </a:rPr>
              <a:t>The number of votes or ratings/(feedback) received by the restaurant.</a:t>
            </a:r>
          </a:p>
          <a:p>
            <a:pPr marL="488950" indent="-342900" algn="just">
              <a:lnSpc>
                <a:spcPct val="115000"/>
              </a:lnSpc>
              <a:spcBef>
                <a:spcPts val="0"/>
              </a:spcBef>
              <a:spcAft>
                <a:spcPts val="0"/>
              </a:spcAft>
              <a:buClr>
                <a:schemeClr val="tx1"/>
              </a:buClr>
              <a:buSzPts val="1300"/>
              <a:buFont typeface="Arial" panose="020B0604020202020204" pitchFamily="34" charset="0"/>
              <a:buChar char="•"/>
            </a:pPr>
            <a:r>
              <a:rPr lang="en-US" sz="1600" b="1" i="0" u="none" strike="noStrike" cap="none" dirty="0">
                <a:solidFill>
                  <a:schemeClr val="tx1"/>
                </a:solidFill>
                <a:ea typeface="Lato"/>
                <a:cs typeface="Lato"/>
                <a:sym typeface="Lato"/>
              </a:rPr>
              <a:t>Average_Cost_for_two: </a:t>
            </a:r>
            <a:r>
              <a:rPr lang="en-US" sz="1600" b="0" i="0" u="none" strike="noStrike" cap="none" dirty="0">
                <a:solidFill>
                  <a:schemeClr val="tx1"/>
                </a:solidFill>
                <a:ea typeface="Lato"/>
                <a:cs typeface="Lato"/>
                <a:sym typeface="Lato"/>
              </a:rPr>
              <a:t>The average cost for two people dining at the restaurant.</a:t>
            </a:r>
          </a:p>
          <a:p>
            <a:pPr marL="488950" indent="-342900" algn="just">
              <a:lnSpc>
                <a:spcPct val="115000"/>
              </a:lnSpc>
              <a:spcBef>
                <a:spcPts val="0"/>
              </a:spcBef>
              <a:buClr>
                <a:schemeClr val="tx1"/>
              </a:buClr>
              <a:buSzPts val="1300"/>
            </a:pPr>
            <a:r>
              <a:rPr lang="en-IN" sz="1600" b="1" dirty="0">
                <a:ea typeface="Lato"/>
                <a:cs typeface="Lato"/>
                <a:sym typeface="Lato"/>
              </a:rPr>
              <a:t>Price: </a:t>
            </a:r>
            <a:r>
              <a:rPr lang="en-IN" sz="1600" dirty="0">
                <a:ea typeface="Lato"/>
                <a:cs typeface="Lato"/>
                <a:sym typeface="Lato"/>
              </a:rPr>
              <a:t>The cost of two people dining with respective currency symbol.</a:t>
            </a:r>
            <a:endParaRPr lang="en-US" sz="1600" b="1" i="0" u="none" strike="noStrike" cap="none" dirty="0">
              <a:solidFill>
                <a:schemeClr val="tx1"/>
              </a:solidFill>
              <a:ea typeface="Lato"/>
              <a:cs typeface="Lato"/>
              <a:sym typeface="Lato"/>
            </a:endParaRPr>
          </a:p>
          <a:p>
            <a:pPr marL="488950" indent="-342900" algn="just">
              <a:lnSpc>
                <a:spcPct val="115000"/>
              </a:lnSpc>
              <a:spcBef>
                <a:spcPts val="0"/>
              </a:spcBef>
              <a:buClr>
                <a:schemeClr val="tx1"/>
              </a:buClr>
              <a:buSzPts val="1300"/>
            </a:pPr>
            <a:r>
              <a:rPr lang="en-US" sz="1600" b="1" dirty="0">
                <a:solidFill>
                  <a:schemeClr val="tx1"/>
                </a:solidFill>
                <a:ea typeface="Lato"/>
                <a:cs typeface="Lato"/>
                <a:sym typeface="Lato"/>
              </a:rPr>
              <a:t>Price in Rupees: </a:t>
            </a:r>
            <a:r>
              <a:rPr lang="en-US" sz="1600" dirty="0">
                <a:solidFill>
                  <a:schemeClr val="tx1"/>
                </a:solidFill>
                <a:ea typeface="Lato"/>
                <a:cs typeface="Lato"/>
                <a:sym typeface="Lato"/>
              </a:rPr>
              <a:t>The Price converted to INR.</a:t>
            </a:r>
            <a:endParaRPr lang="en-US" sz="1600" b="0" i="0" u="none" strike="noStrike" cap="none" dirty="0">
              <a:solidFill>
                <a:schemeClr val="tx1"/>
              </a:solidFill>
              <a:ea typeface="Lato"/>
              <a:cs typeface="Lato"/>
              <a:sym typeface="Lato"/>
            </a:endParaRPr>
          </a:p>
          <a:p>
            <a:pPr marL="495300" indent="-342900" algn="just">
              <a:lnSpc>
                <a:spcPct val="115000"/>
              </a:lnSpc>
              <a:spcBef>
                <a:spcPts val="0"/>
              </a:spcBef>
              <a:spcAft>
                <a:spcPts val="0"/>
              </a:spcAft>
              <a:buClr>
                <a:schemeClr val="tx1"/>
              </a:buClr>
              <a:buSzPts val="1200"/>
              <a:buFont typeface="Arial" panose="020B0604020202020204" pitchFamily="34" charset="0"/>
              <a:buChar char="•"/>
            </a:pPr>
            <a:r>
              <a:rPr lang="en-US" sz="1600" b="1" i="0" u="none" strike="noStrike" cap="none" dirty="0">
                <a:solidFill>
                  <a:schemeClr val="tx1"/>
                </a:solidFill>
                <a:ea typeface="Lato"/>
                <a:cs typeface="Lato"/>
                <a:sym typeface="Lato"/>
              </a:rPr>
              <a:t>Rating: </a:t>
            </a:r>
            <a:r>
              <a:rPr lang="en-US" sz="1600" b="0" i="0" u="none" strike="noStrike" cap="none" dirty="0">
                <a:solidFill>
                  <a:schemeClr val="tx1"/>
                </a:solidFill>
                <a:ea typeface="Lato"/>
                <a:cs typeface="Lato"/>
                <a:sym typeface="Lato"/>
              </a:rPr>
              <a:t>The overall rating of the restaurant is based on user reviews.</a:t>
            </a:r>
          </a:p>
          <a:p>
            <a:pPr marL="495300" indent="-342900" algn="just">
              <a:lnSpc>
                <a:spcPct val="115000"/>
              </a:lnSpc>
              <a:spcBef>
                <a:spcPts val="0"/>
              </a:spcBef>
              <a:spcAft>
                <a:spcPts val="0"/>
              </a:spcAft>
              <a:buClr>
                <a:schemeClr val="tx1"/>
              </a:buClr>
              <a:buSzPts val="1200"/>
              <a:buFont typeface="Arial" panose="020B0604020202020204" pitchFamily="34" charset="0"/>
              <a:buChar char="•"/>
            </a:pPr>
            <a:r>
              <a:rPr lang="en-US" sz="1600" b="1" i="0" u="none" strike="noStrike" cap="none" dirty="0">
                <a:solidFill>
                  <a:schemeClr val="tx1"/>
                </a:solidFill>
                <a:ea typeface="Lato"/>
                <a:cs typeface="Lato"/>
                <a:sym typeface="Lato"/>
              </a:rPr>
              <a:t>Updated_Datekey_opening: </a:t>
            </a:r>
            <a:r>
              <a:rPr lang="en-US" sz="1600" b="0" i="0" u="none" strike="noStrike" cap="none" dirty="0">
                <a:solidFill>
                  <a:schemeClr val="tx1"/>
                </a:solidFill>
                <a:ea typeface="Lato"/>
                <a:cs typeface="Lato"/>
                <a:sym typeface="Lato"/>
              </a:rPr>
              <a:t>The date when the restaurant was opened.</a:t>
            </a:r>
          </a:p>
          <a:p>
            <a:pPr marL="495300" indent="-342900" algn="just">
              <a:lnSpc>
                <a:spcPct val="115000"/>
              </a:lnSpc>
              <a:spcBef>
                <a:spcPts val="0"/>
              </a:spcBef>
              <a:spcAft>
                <a:spcPts val="0"/>
              </a:spcAft>
              <a:buClr>
                <a:schemeClr val="tx1"/>
              </a:buClr>
              <a:buSzPts val="1200"/>
              <a:buFont typeface="Arial" panose="020B0604020202020204" pitchFamily="34" charset="0"/>
              <a:buChar char="•"/>
            </a:pPr>
            <a:r>
              <a:rPr lang="en-US" sz="1600" b="1" i="0" u="none" strike="noStrike" cap="none" dirty="0">
                <a:solidFill>
                  <a:schemeClr val="tx1"/>
                </a:solidFill>
                <a:ea typeface="Lato"/>
                <a:cs typeface="Lato"/>
                <a:sym typeface="Lato"/>
              </a:rPr>
              <a:t>Year</a:t>
            </a:r>
            <a:r>
              <a:rPr lang="en-US" sz="1600" b="1" dirty="0">
                <a:solidFill>
                  <a:schemeClr val="tx1"/>
                </a:solidFill>
                <a:ea typeface="Lato"/>
                <a:cs typeface="Lato"/>
                <a:sym typeface="Lato"/>
              </a:rPr>
              <a:t>s: </a:t>
            </a:r>
            <a:r>
              <a:rPr lang="en-US" sz="1600" dirty="0">
                <a:solidFill>
                  <a:schemeClr val="tx1"/>
                </a:solidFill>
                <a:ea typeface="Lato"/>
                <a:cs typeface="Lato"/>
                <a:sym typeface="Lato"/>
              </a:rPr>
              <a:t>The year of restaurant opened.</a:t>
            </a:r>
            <a:endParaRPr lang="en-US" sz="1600" b="1" dirty="0">
              <a:solidFill>
                <a:schemeClr val="tx1"/>
              </a:solidFill>
              <a:ea typeface="Lato"/>
              <a:cs typeface="Lato"/>
              <a:sym typeface="Lato"/>
            </a:endParaRPr>
          </a:p>
          <a:p>
            <a:pPr marL="495300" indent="-342900">
              <a:lnSpc>
                <a:spcPct val="115000"/>
              </a:lnSpc>
              <a:spcBef>
                <a:spcPts val="0"/>
              </a:spcBef>
              <a:spcAft>
                <a:spcPts val="0"/>
              </a:spcAft>
              <a:buClr>
                <a:schemeClr val="tx1"/>
              </a:buClr>
              <a:buSzPts val="1200"/>
              <a:buFont typeface="Arial" panose="020B0604020202020204" pitchFamily="34" charset="0"/>
              <a:buChar char="•"/>
            </a:pPr>
            <a:endParaRPr lang="en-US" sz="2000" b="1" i="0" u="none" strike="noStrike" cap="none" dirty="0">
              <a:solidFill>
                <a:schemeClr val="tx1"/>
              </a:solidFill>
              <a:latin typeface="Lato"/>
              <a:ea typeface="Lato"/>
              <a:cs typeface="Lato"/>
              <a:sym typeface="Lato"/>
            </a:endParaRPr>
          </a:p>
          <a:p>
            <a:pPr marL="495300" indent="-342900">
              <a:lnSpc>
                <a:spcPct val="115000"/>
              </a:lnSpc>
              <a:spcBef>
                <a:spcPts val="0"/>
              </a:spcBef>
              <a:spcAft>
                <a:spcPts val="0"/>
              </a:spcAft>
              <a:buClr>
                <a:schemeClr val="tx1"/>
              </a:buClr>
              <a:buSzPts val="1200"/>
              <a:buFont typeface="Arial" panose="020B0604020202020204" pitchFamily="34" charset="0"/>
              <a:buChar char="•"/>
            </a:pPr>
            <a:endParaRPr lang="en-US" sz="2000" b="0" i="0" u="none" strike="noStrike" cap="none" dirty="0">
              <a:solidFill>
                <a:schemeClr val="tx1"/>
              </a:solidFill>
              <a:latin typeface="Lato"/>
              <a:ea typeface="Lato"/>
              <a:cs typeface="Lato"/>
              <a:sym typeface="Lato"/>
            </a:endParaRPr>
          </a:p>
          <a:p>
            <a:pPr marL="495300" indent="-342900">
              <a:lnSpc>
                <a:spcPct val="115000"/>
              </a:lnSpc>
              <a:spcBef>
                <a:spcPts val="0"/>
              </a:spcBef>
              <a:spcAft>
                <a:spcPts val="0"/>
              </a:spcAft>
              <a:buClr>
                <a:schemeClr val="tx1"/>
              </a:buClr>
              <a:buSzPts val="1200"/>
              <a:buFont typeface="Arial" panose="020B0604020202020204" pitchFamily="34" charset="0"/>
              <a:buChar char="•"/>
            </a:pPr>
            <a:endParaRPr lang="en-IN" sz="2000" b="0" i="0" u="none" strike="noStrike" cap="none" dirty="0">
              <a:solidFill>
                <a:schemeClr val="tx1"/>
              </a:solidFill>
              <a:latin typeface="Lato"/>
              <a:ea typeface="Lato"/>
              <a:cs typeface="Lato"/>
              <a:sym typeface="Lato"/>
            </a:endParaRPr>
          </a:p>
          <a:p>
            <a:pPr marL="495300" indent="-342900">
              <a:lnSpc>
                <a:spcPct val="115000"/>
              </a:lnSpc>
              <a:spcBef>
                <a:spcPts val="0"/>
              </a:spcBef>
              <a:spcAft>
                <a:spcPts val="0"/>
              </a:spcAft>
              <a:buClr>
                <a:schemeClr val="tx1"/>
              </a:buClr>
              <a:buSzPts val="1200"/>
              <a:buFont typeface="Arial" panose="020B0604020202020204" pitchFamily="34" charset="0"/>
              <a:buChar char="•"/>
            </a:pPr>
            <a:endParaRPr lang="en-US" sz="2000" b="0" i="0" u="none" strike="noStrike" cap="none" dirty="0">
              <a:solidFill>
                <a:schemeClr val="tx1"/>
              </a:solidFill>
              <a:latin typeface="Lato"/>
              <a:ea typeface="Lato"/>
              <a:cs typeface="Lato"/>
              <a:sym typeface="Lato"/>
            </a:endParaRPr>
          </a:p>
        </p:txBody>
      </p:sp>
    </p:spTree>
    <p:extLst>
      <p:ext uri="{BB962C8B-B14F-4D97-AF65-F5344CB8AC3E}">
        <p14:creationId xmlns:p14="http://schemas.microsoft.com/office/powerpoint/2010/main" val="307694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E3312C-0056-7ADF-2301-42FF5CA49D6E}"/>
              </a:ext>
            </a:extLst>
          </p:cNvPr>
          <p:cNvSpPr>
            <a:spLocks noGrp="1"/>
          </p:cNvSpPr>
          <p:nvPr>
            <p:ph type="title"/>
          </p:nvPr>
        </p:nvSpPr>
        <p:spPr>
          <a:xfrm>
            <a:off x="913794" y="609600"/>
            <a:ext cx="10506046" cy="1117600"/>
          </a:xfrm>
        </p:spPr>
        <p:txBody>
          <a:bodyPr>
            <a:noAutofit/>
          </a:bodyPr>
          <a:lstStyle/>
          <a:p>
            <a:pPr algn="ctr">
              <a:lnSpc>
                <a:spcPct val="100000"/>
              </a:lnSpc>
            </a:pPr>
            <a:r>
              <a:rPr lang="en-GB" sz="4400" b="1" dirty="0">
                <a:latin typeface="+mn-lt"/>
              </a:rPr>
              <a:t>Key Statistics from Zomato Global Analysis</a:t>
            </a:r>
            <a:endParaRPr lang="en-IN" sz="4400" b="1" dirty="0">
              <a:latin typeface="+mn-lt"/>
            </a:endParaRPr>
          </a:p>
        </p:txBody>
      </p:sp>
      <p:sp>
        <p:nvSpPr>
          <p:cNvPr id="10" name="Text Placeholder 9">
            <a:extLst>
              <a:ext uri="{FF2B5EF4-FFF2-40B4-BE49-F238E27FC236}">
                <a16:creationId xmlns:a16="http://schemas.microsoft.com/office/drawing/2014/main" id="{BCAB1F5F-EC56-26FE-AC27-1E70A6331182}"/>
              </a:ext>
            </a:extLst>
          </p:cNvPr>
          <p:cNvSpPr>
            <a:spLocks noGrp="1"/>
          </p:cNvSpPr>
          <p:nvPr>
            <p:ph type="body" sz="half" idx="2"/>
          </p:nvPr>
        </p:nvSpPr>
        <p:spPr>
          <a:xfrm>
            <a:off x="913794" y="2159461"/>
            <a:ext cx="4498714" cy="3879273"/>
          </a:xfrm>
        </p:spPr>
        <p:txBody>
          <a:bodyPr>
            <a:normAutofit/>
          </a:bodyPr>
          <a:lstStyle/>
          <a:p>
            <a:pPr marL="285750" indent="-285750" algn="just">
              <a:buFont typeface="Arial" panose="020B0604020202020204" pitchFamily="34" charset="0"/>
              <a:buChar char="•"/>
            </a:pPr>
            <a:r>
              <a:rPr lang="en-GB" sz="2000" dirty="0"/>
              <a:t>Total Number of Restaurants: 9,551 restaurants from various countries around the world.</a:t>
            </a:r>
          </a:p>
          <a:p>
            <a:pPr marL="285750" indent="-285750" algn="just">
              <a:buFont typeface="Arial" panose="020B0604020202020204" pitchFamily="34" charset="0"/>
              <a:buChar char="•"/>
            </a:pPr>
            <a:r>
              <a:rPr lang="en-GB" sz="2000" dirty="0"/>
              <a:t>Total Number of Cuisines: 1,825 cuisines from various restaurants across different countries and states.</a:t>
            </a:r>
          </a:p>
          <a:p>
            <a:pPr marL="285750" indent="-285750" algn="just">
              <a:buFont typeface="Arial" panose="020B0604020202020204" pitchFamily="34" charset="0"/>
              <a:buChar char="•"/>
            </a:pPr>
            <a:r>
              <a:rPr lang="en-GB" sz="2000" dirty="0"/>
              <a:t>Total Number of Cities: 141 cities have been analysed from 15 countries.</a:t>
            </a:r>
          </a:p>
          <a:p>
            <a:pPr marL="285750" indent="-285750" algn="just">
              <a:buFont typeface="Arial" panose="020B0604020202020204" pitchFamily="34" charset="0"/>
              <a:buChar char="•"/>
            </a:pPr>
            <a:r>
              <a:rPr lang="en-GB" sz="2000" dirty="0"/>
              <a:t>Total Number of Votes: 1,498,645 votes were cast in the review system to generate feedback.</a:t>
            </a:r>
            <a:endParaRPr lang="en-IN" sz="2000" dirty="0"/>
          </a:p>
        </p:txBody>
      </p:sp>
      <p:pic>
        <p:nvPicPr>
          <p:cNvPr id="12" name="Picture 11">
            <a:extLst>
              <a:ext uri="{FF2B5EF4-FFF2-40B4-BE49-F238E27FC236}">
                <a16:creationId xmlns:a16="http://schemas.microsoft.com/office/drawing/2014/main" id="{D876F34C-67FB-DC62-87BC-98E8B98782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4945" y="1976581"/>
            <a:ext cx="6493163" cy="4396509"/>
          </a:xfrm>
          <a:prstGeom prst="rect">
            <a:avLst/>
          </a:prstGeom>
          <a:ln>
            <a:noFill/>
          </a:ln>
          <a:effectLst>
            <a:softEdge rad="112500"/>
          </a:effectLst>
        </p:spPr>
      </p:pic>
    </p:spTree>
    <p:extLst>
      <p:ext uri="{BB962C8B-B14F-4D97-AF65-F5344CB8AC3E}">
        <p14:creationId xmlns:p14="http://schemas.microsoft.com/office/powerpoint/2010/main" val="2157723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06AE653-DD1B-C49C-F39E-93E681B88B80}"/>
              </a:ext>
            </a:extLst>
          </p:cNvPr>
          <p:cNvSpPr>
            <a:spLocks noGrp="1"/>
          </p:cNvSpPr>
          <p:nvPr>
            <p:ph type="title"/>
          </p:nvPr>
        </p:nvSpPr>
        <p:spPr>
          <a:xfrm>
            <a:off x="1157635" y="299317"/>
            <a:ext cx="9693245" cy="775854"/>
          </a:xfrm>
        </p:spPr>
        <p:txBody>
          <a:bodyPr>
            <a:normAutofit/>
          </a:bodyPr>
          <a:lstStyle/>
          <a:p>
            <a:pPr algn="ctr"/>
            <a:r>
              <a:rPr lang="en-US" sz="4400" b="1" dirty="0">
                <a:latin typeface="+mn-lt"/>
              </a:rPr>
              <a:t>Data Cleaning and Processing</a:t>
            </a:r>
            <a:endParaRPr lang="en-IN" sz="4400" dirty="0">
              <a:latin typeface="+mn-lt"/>
            </a:endParaRPr>
          </a:p>
        </p:txBody>
      </p:sp>
      <p:pic>
        <p:nvPicPr>
          <p:cNvPr id="6" name="Picture Placeholder 5">
            <a:extLst>
              <a:ext uri="{FF2B5EF4-FFF2-40B4-BE49-F238E27FC236}">
                <a16:creationId xmlns:a16="http://schemas.microsoft.com/office/drawing/2014/main" id="{E9A44D25-17A9-6FA0-D979-6AD5D42580DE}"/>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4381" r="14381"/>
          <a:stretch>
            <a:fillRect/>
          </a:stretch>
        </p:blipFill>
        <p:spPr>
          <a:xfrm>
            <a:off x="7133709" y="1385454"/>
            <a:ext cx="4256606" cy="4397375"/>
          </a:xfrm>
        </p:spPr>
      </p:pic>
      <p:sp>
        <p:nvSpPr>
          <p:cNvPr id="7" name="Text Placeholder 6">
            <a:extLst>
              <a:ext uri="{FF2B5EF4-FFF2-40B4-BE49-F238E27FC236}">
                <a16:creationId xmlns:a16="http://schemas.microsoft.com/office/drawing/2014/main" id="{A8CAF6F5-9465-DEDB-4975-30176CD47AC0}"/>
              </a:ext>
            </a:extLst>
          </p:cNvPr>
          <p:cNvSpPr>
            <a:spLocks noGrp="1"/>
          </p:cNvSpPr>
          <p:nvPr>
            <p:ph type="body" sz="half" idx="2"/>
          </p:nvPr>
        </p:nvSpPr>
        <p:spPr>
          <a:xfrm>
            <a:off x="401780" y="1390072"/>
            <a:ext cx="6541616" cy="4728095"/>
          </a:xfrm>
        </p:spPr>
        <p:txBody>
          <a:bodyPr>
            <a:normAutofit/>
          </a:bodyPr>
          <a:lstStyle/>
          <a:p>
            <a:pPr marL="285750" indent="-285750" algn="just">
              <a:buFont typeface="Arial" panose="020B0604020202020204" pitchFamily="34" charset="0"/>
              <a:buChar char="•"/>
            </a:pPr>
            <a:r>
              <a:rPr lang="en-GB" sz="2000" dirty="0"/>
              <a:t>Treated the missing values in the 'Cuisines' column for the USA.</a:t>
            </a:r>
          </a:p>
          <a:p>
            <a:pPr marL="285750" indent="-285750" algn="just">
              <a:buFont typeface="Arial" panose="020B0604020202020204" pitchFamily="34" charset="0"/>
              <a:buChar char="•"/>
            </a:pPr>
            <a:r>
              <a:rPr lang="en-GB" sz="2000" dirty="0"/>
              <a:t>Standardized the date format.</a:t>
            </a:r>
          </a:p>
          <a:p>
            <a:pPr marL="285750" indent="-285750" algn="just">
              <a:buFont typeface="Arial" panose="020B0604020202020204" pitchFamily="34" charset="0"/>
              <a:buChar char="•"/>
            </a:pPr>
            <a:r>
              <a:rPr lang="en-GB" sz="2000" dirty="0"/>
              <a:t>Processed various currencies and converted them into INR for comparison.</a:t>
            </a:r>
          </a:p>
          <a:p>
            <a:pPr marL="285750" indent="-285750" algn="just">
              <a:buFont typeface="Arial" panose="020B0604020202020204" pitchFamily="34" charset="0"/>
              <a:buChar char="•"/>
            </a:pPr>
            <a:r>
              <a:rPr lang="en-GB" sz="2000" dirty="0"/>
              <a:t>Created new columns for year from the date for better visualization.</a:t>
            </a:r>
          </a:p>
          <a:p>
            <a:pPr marL="285750" indent="-285750" algn="just">
              <a:buFont typeface="Arial" panose="020B0604020202020204" pitchFamily="34" charset="0"/>
              <a:buChar char="•"/>
            </a:pPr>
            <a:r>
              <a:rPr lang="en-GB" sz="2000" dirty="0"/>
              <a:t>Merged the respective currency with its associated cost using string operations.</a:t>
            </a:r>
          </a:p>
          <a:p>
            <a:pPr marL="285750" indent="-285750" algn="just">
              <a:buFont typeface="Arial" panose="020B0604020202020204" pitchFamily="34" charset="0"/>
              <a:buChar char="•"/>
            </a:pPr>
            <a:r>
              <a:rPr lang="en-GB" sz="2000" dirty="0"/>
              <a:t>Used LOOKUP functions to fetch the appropriate country codes.</a:t>
            </a:r>
            <a:endParaRPr lang="en-IN" sz="2000" dirty="0"/>
          </a:p>
        </p:txBody>
      </p:sp>
    </p:spTree>
    <p:extLst>
      <p:ext uri="{BB962C8B-B14F-4D97-AF65-F5344CB8AC3E}">
        <p14:creationId xmlns:p14="http://schemas.microsoft.com/office/powerpoint/2010/main" val="1226642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D05E4-1693-2305-D090-8FEAA23A4510}"/>
              </a:ext>
            </a:extLst>
          </p:cNvPr>
          <p:cNvSpPr>
            <a:spLocks noGrp="1"/>
          </p:cNvSpPr>
          <p:nvPr>
            <p:ph type="title"/>
          </p:nvPr>
        </p:nvSpPr>
        <p:spPr>
          <a:xfrm>
            <a:off x="424874" y="149464"/>
            <a:ext cx="10950834" cy="582705"/>
          </a:xfrm>
        </p:spPr>
        <p:txBody>
          <a:bodyPr>
            <a:noAutofit/>
          </a:bodyPr>
          <a:lstStyle/>
          <a:p>
            <a:pPr algn="ctr"/>
            <a:r>
              <a:rPr lang="en-US" sz="4400" b="1" dirty="0">
                <a:latin typeface="+mn-lt"/>
              </a:rPr>
              <a:t>Methodology</a:t>
            </a:r>
            <a:endParaRPr lang="en-IN" sz="4400" dirty="0">
              <a:latin typeface="+mn-lt"/>
            </a:endParaRPr>
          </a:p>
        </p:txBody>
      </p:sp>
      <p:pic>
        <p:nvPicPr>
          <p:cNvPr id="6" name="Picture Placeholder 5">
            <a:extLst>
              <a:ext uri="{FF2B5EF4-FFF2-40B4-BE49-F238E27FC236}">
                <a16:creationId xmlns:a16="http://schemas.microsoft.com/office/drawing/2014/main" id="{9C0843F7-17A0-645D-FB95-7AF305EF5082}"/>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8207" r="8207"/>
          <a:stretch>
            <a:fillRect/>
          </a:stretch>
        </p:blipFill>
        <p:spPr>
          <a:xfrm>
            <a:off x="7335520" y="1373505"/>
            <a:ext cx="4040188" cy="4620895"/>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4" name="Text Placeholder 3">
            <a:extLst>
              <a:ext uri="{FF2B5EF4-FFF2-40B4-BE49-F238E27FC236}">
                <a16:creationId xmlns:a16="http://schemas.microsoft.com/office/drawing/2014/main" id="{2EFFE6C7-5C9B-C706-2225-901A4AF0761F}"/>
              </a:ext>
            </a:extLst>
          </p:cNvPr>
          <p:cNvSpPr>
            <a:spLocks noGrp="1"/>
          </p:cNvSpPr>
          <p:nvPr>
            <p:ph type="body" sz="half" idx="2"/>
          </p:nvPr>
        </p:nvSpPr>
        <p:spPr>
          <a:xfrm>
            <a:off x="94319" y="987425"/>
            <a:ext cx="6854468" cy="5721111"/>
          </a:xfrm>
        </p:spPr>
        <p:txBody>
          <a:bodyPr>
            <a:normAutofit/>
          </a:bodyPr>
          <a:lstStyle/>
          <a:p>
            <a:pPr marL="342900" indent="-342900" algn="just">
              <a:buFont typeface="Arial" panose="020B0604020202020204" pitchFamily="34" charset="0"/>
              <a:buChar char="•"/>
            </a:pPr>
            <a:r>
              <a:rPr lang="en-US" sz="2200" b="1" dirty="0"/>
              <a:t>Missing value treatment</a:t>
            </a:r>
            <a:r>
              <a:rPr lang="en-US" sz="2000" b="1" dirty="0"/>
              <a:t>:- </a:t>
            </a:r>
            <a:r>
              <a:rPr lang="en-US" sz="2000" dirty="0"/>
              <a:t>Using pivot table, Taking top 10 Cuisines count , Sorting in Descending order, ISBLANK function, IF function.</a:t>
            </a:r>
          </a:p>
          <a:p>
            <a:pPr marL="342900" indent="-342900" algn="just">
              <a:buFont typeface="Arial" panose="020B0604020202020204" pitchFamily="34" charset="0"/>
              <a:buChar char="•"/>
            </a:pPr>
            <a:r>
              <a:rPr lang="en-US" sz="2400" b="1" dirty="0"/>
              <a:t>Data Enrichment</a:t>
            </a:r>
            <a:r>
              <a:rPr lang="en-US" sz="2000" b="1" dirty="0"/>
              <a:t>:- </a:t>
            </a:r>
            <a:r>
              <a:rPr lang="en-US" sz="2000" dirty="0"/>
              <a:t>Enhanced the data set with additional variables using VLOOKUP, RIGHT, FIND, CONCAT, TEXT, DATEVALUE, SUBSTITUTE, YEAR and connecting tables to cross reference with original data source.</a:t>
            </a:r>
          </a:p>
          <a:p>
            <a:pPr marL="342900" indent="-342900" algn="just">
              <a:buFont typeface="Arial" panose="020B0604020202020204" pitchFamily="34" charset="0"/>
              <a:buChar char="•"/>
            </a:pPr>
            <a:r>
              <a:rPr lang="en-US" sz="2400" b="1" dirty="0"/>
              <a:t>Descriptive Analysis</a:t>
            </a:r>
            <a:r>
              <a:rPr lang="en-US" sz="2000" b="1" dirty="0"/>
              <a:t>:- </a:t>
            </a:r>
            <a:r>
              <a:rPr lang="en-US" sz="2000" dirty="0"/>
              <a:t>Employed Pivot tables for summarizing key metrices, conditional aggregational functions and normal excel functions (count, if, etc.) for analyzing objective questions.</a:t>
            </a:r>
          </a:p>
          <a:p>
            <a:pPr marL="342900" indent="-342900" algn="just">
              <a:buFont typeface="Arial" panose="020B0604020202020204" pitchFamily="34" charset="0"/>
              <a:buChar char="•"/>
            </a:pPr>
            <a:r>
              <a:rPr lang="en-IN" sz="2200" b="1" dirty="0"/>
              <a:t>Executive Segmentations</a:t>
            </a:r>
            <a:r>
              <a:rPr lang="en-IN" sz="2000" b="1" dirty="0"/>
              <a:t>:- </a:t>
            </a:r>
            <a:r>
              <a:rPr lang="en-IN" sz="2000" dirty="0"/>
              <a:t>Applied year and country wise filters to analyse the various outcomes of ratings, prices etc. for different countries at a different timeline.</a:t>
            </a:r>
          </a:p>
          <a:p>
            <a:pPr marL="342900" indent="-342900" algn="just">
              <a:buFont typeface="Arial" panose="020B0604020202020204" pitchFamily="34" charset="0"/>
              <a:buChar char="•"/>
            </a:pPr>
            <a:r>
              <a:rPr lang="en-IN" sz="2200" b="1" dirty="0"/>
              <a:t>Data Visualization</a:t>
            </a:r>
            <a:r>
              <a:rPr lang="en-IN" sz="2000" b="1" dirty="0"/>
              <a:t>:- </a:t>
            </a:r>
            <a:r>
              <a:rPr lang="en-IN" sz="2000" dirty="0"/>
              <a:t>Created dynamic charts and Dashboard for data representation, enabling interactive data exploration.</a:t>
            </a:r>
            <a:endParaRPr lang="en-IN" sz="2000" b="1" dirty="0"/>
          </a:p>
          <a:p>
            <a:pPr marL="285750" indent="-285750" algn="l">
              <a:buFont typeface="Wingdings" panose="05000000000000000000" pitchFamily="2" charset="2"/>
              <a:buChar char="ü"/>
            </a:pPr>
            <a:endParaRPr lang="en-IN" dirty="0"/>
          </a:p>
        </p:txBody>
      </p:sp>
    </p:spTree>
    <p:extLst>
      <p:ext uri="{BB962C8B-B14F-4D97-AF65-F5344CB8AC3E}">
        <p14:creationId xmlns:p14="http://schemas.microsoft.com/office/powerpoint/2010/main" val="2392465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C4FA8FE0-5DEE-A74B-C1AD-07E80019B8E0}"/>
              </a:ext>
            </a:extLst>
          </p:cNvPr>
          <p:cNvSpPr>
            <a:spLocks noGrp="1"/>
          </p:cNvSpPr>
          <p:nvPr>
            <p:ph type="title"/>
          </p:nvPr>
        </p:nvSpPr>
        <p:spPr>
          <a:xfrm>
            <a:off x="965200" y="328104"/>
            <a:ext cx="10840720" cy="1053656"/>
          </a:xfrm>
        </p:spPr>
        <p:txBody>
          <a:bodyPr>
            <a:noAutofit/>
          </a:bodyPr>
          <a:lstStyle/>
          <a:p>
            <a:pPr algn="ctr"/>
            <a:br>
              <a:rPr lang="en-GB" b="1" dirty="0"/>
            </a:br>
            <a:br>
              <a:rPr lang="en-GB" b="1" dirty="0"/>
            </a:br>
            <a:br>
              <a:rPr lang="en-GB" b="1" dirty="0"/>
            </a:br>
            <a:br>
              <a:rPr lang="en-GB" b="1" dirty="0"/>
            </a:br>
            <a:br>
              <a:rPr lang="en-GB" b="1" dirty="0"/>
            </a:br>
            <a:br>
              <a:rPr lang="en-GB" b="1" dirty="0"/>
            </a:br>
            <a:r>
              <a:rPr lang="en-US" sz="4400" b="1" dirty="0">
                <a:latin typeface="+mn-lt"/>
              </a:rPr>
              <a:t>Year-wise Growth of Restaurant Listings</a:t>
            </a:r>
            <a:br>
              <a:rPr lang="en-IN" b="1" dirty="0"/>
            </a:br>
            <a:endParaRPr lang="en-IN" b="1" dirty="0"/>
          </a:p>
        </p:txBody>
      </p:sp>
      <p:sp>
        <p:nvSpPr>
          <p:cNvPr id="4" name="Content Placeholder 3">
            <a:extLst>
              <a:ext uri="{FF2B5EF4-FFF2-40B4-BE49-F238E27FC236}">
                <a16:creationId xmlns:a16="http://schemas.microsoft.com/office/drawing/2014/main" id="{82E18AA7-115A-4CFC-CA72-9838C050A6BD}"/>
              </a:ext>
            </a:extLst>
          </p:cNvPr>
          <p:cNvSpPr>
            <a:spLocks noGrp="1"/>
          </p:cNvSpPr>
          <p:nvPr>
            <p:ph type="body" sz="half" idx="2"/>
          </p:nvPr>
        </p:nvSpPr>
        <p:spPr>
          <a:xfrm>
            <a:off x="483301" y="2015548"/>
            <a:ext cx="3580699" cy="2826904"/>
          </a:xfrm>
        </p:spPr>
        <p:txBody>
          <a:bodyPr>
            <a:noAutofit/>
          </a:bodyPr>
          <a:lstStyle/>
          <a:p>
            <a:pPr marL="285750" indent="-285750" algn="just">
              <a:buFont typeface="Arial" panose="020B0604020202020204" pitchFamily="34" charset="0"/>
              <a:buChar char="•"/>
            </a:pPr>
            <a:r>
              <a:rPr lang="en-US" sz="2000" b="1" dirty="0"/>
              <a:t>Rising trends in 2017–2018</a:t>
            </a:r>
            <a:r>
              <a:rPr lang="en-US" sz="2000" dirty="0"/>
              <a:t> suggest increased business confidence and market demand.</a:t>
            </a:r>
            <a:r>
              <a:rPr lang="en-GB" sz="2000" dirty="0"/>
              <a:t> </a:t>
            </a:r>
          </a:p>
          <a:p>
            <a:pPr marL="285750" indent="-285750" algn="just">
              <a:buFont typeface="Arial" panose="020B0604020202020204" pitchFamily="34" charset="0"/>
              <a:buChar char="•"/>
            </a:pPr>
            <a:r>
              <a:rPr lang="en-US" sz="2000" dirty="0"/>
              <a:t>The </a:t>
            </a:r>
            <a:r>
              <a:rPr lang="en-US" sz="2000" b="1" dirty="0"/>
              <a:t>drop in mid-years</a:t>
            </a:r>
            <a:r>
              <a:rPr lang="en-US" sz="2000" dirty="0"/>
              <a:t> like 2012 and 2015 may reflect economic or regulatory factors worth investigating before expansion planning.</a:t>
            </a:r>
            <a:endParaRPr lang="en-IN" sz="2000" dirty="0"/>
          </a:p>
        </p:txBody>
      </p:sp>
      <p:graphicFrame>
        <p:nvGraphicFramePr>
          <p:cNvPr id="3" name="Chart 2">
            <a:extLst>
              <a:ext uri="{FF2B5EF4-FFF2-40B4-BE49-F238E27FC236}">
                <a16:creationId xmlns:a16="http://schemas.microsoft.com/office/drawing/2014/main" id="{0600139A-B515-4121-843F-B70B0FDB7B30}"/>
              </a:ext>
            </a:extLst>
          </p:cNvPr>
          <p:cNvGraphicFramePr>
            <a:graphicFrameLocks/>
          </p:cNvGraphicFramePr>
          <p:nvPr>
            <p:extLst>
              <p:ext uri="{D42A27DB-BD31-4B8C-83A1-F6EECF244321}">
                <p14:modId xmlns:p14="http://schemas.microsoft.com/office/powerpoint/2010/main" val="3140074194"/>
              </p:ext>
            </p:extLst>
          </p:nvPr>
        </p:nvGraphicFramePr>
        <p:xfrm>
          <a:off x="4216400" y="1565911"/>
          <a:ext cx="7492301" cy="4963985"/>
        </p:xfrm>
        <a:graphic>
          <a:graphicData uri="http://schemas.openxmlformats.org/drawingml/2006/chart">
            <c:chart xmlns:c="http://schemas.openxmlformats.org/drawingml/2006/chart" xmlns:r="http://schemas.openxmlformats.org/officeDocument/2006/relationships" r:id="rId2"/>
          </a:graphicData>
        </a:graphic>
      </p:graphicFrame>
      <p:sp>
        <p:nvSpPr>
          <p:cNvPr id="6" name="Rectangle: Rounded Corners 5">
            <a:extLst>
              <a:ext uri="{FF2B5EF4-FFF2-40B4-BE49-F238E27FC236}">
                <a16:creationId xmlns:a16="http://schemas.microsoft.com/office/drawing/2014/main" id="{13980D5B-CDD8-2103-864D-05FCE06DC030}"/>
              </a:ext>
            </a:extLst>
          </p:cNvPr>
          <p:cNvSpPr/>
          <p:nvPr/>
        </p:nvSpPr>
        <p:spPr>
          <a:xfrm>
            <a:off x="6974278" y="1840923"/>
            <a:ext cx="2423584" cy="349250"/>
          </a:xfrm>
          <a:prstGeom prst="roundRect">
            <a:avLst/>
          </a:prstGeom>
          <a:solidFill>
            <a:schemeClr val="bg2">
              <a:lumMod val="2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IN" sz="1400" dirty="0"/>
              <a:t>Restaurants</a:t>
            </a:r>
            <a:r>
              <a:rPr lang="en-IN" sz="1400" baseline="0" dirty="0"/>
              <a:t> Opening Per Year</a:t>
            </a:r>
            <a:endParaRPr lang="en-IN" sz="1400" dirty="0"/>
          </a:p>
        </p:txBody>
      </p:sp>
    </p:spTree>
    <p:extLst>
      <p:ext uri="{BB962C8B-B14F-4D97-AF65-F5344CB8AC3E}">
        <p14:creationId xmlns:p14="http://schemas.microsoft.com/office/powerpoint/2010/main" val="41509189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AF6A6E50-C79E-2C29-74CF-9D23281E2649}"/>
              </a:ext>
            </a:extLst>
          </p:cNvPr>
          <p:cNvSpPr>
            <a:spLocks noGrp="1"/>
          </p:cNvSpPr>
          <p:nvPr>
            <p:ph sz="half" idx="1"/>
          </p:nvPr>
        </p:nvSpPr>
        <p:spPr>
          <a:xfrm>
            <a:off x="473221" y="192605"/>
            <a:ext cx="10794335" cy="711636"/>
          </a:xfrm>
        </p:spPr>
        <p:txBody>
          <a:bodyPr>
            <a:normAutofit/>
          </a:bodyPr>
          <a:lstStyle/>
          <a:p>
            <a:pPr marL="36900" indent="0" algn="ctr">
              <a:buNone/>
            </a:pPr>
            <a:r>
              <a:rPr lang="en-IN" sz="4400" b="1" dirty="0"/>
              <a:t>Restaurant Presence by Country</a:t>
            </a:r>
          </a:p>
        </p:txBody>
      </p:sp>
      <p:sp>
        <p:nvSpPr>
          <p:cNvPr id="7" name="Content Placeholder 6">
            <a:extLst>
              <a:ext uri="{FF2B5EF4-FFF2-40B4-BE49-F238E27FC236}">
                <a16:creationId xmlns:a16="http://schemas.microsoft.com/office/drawing/2014/main" id="{AC7C03B1-FECD-274C-9861-65FA185F1E9D}"/>
              </a:ext>
            </a:extLst>
          </p:cNvPr>
          <p:cNvSpPr>
            <a:spLocks noGrp="1"/>
          </p:cNvSpPr>
          <p:nvPr>
            <p:ph sz="half" idx="2"/>
          </p:nvPr>
        </p:nvSpPr>
        <p:spPr>
          <a:xfrm>
            <a:off x="8463280" y="1945327"/>
            <a:ext cx="3606800" cy="3456013"/>
          </a:xfrm>
        </p:spPr>
        <p:txBody>
          <a:bodyPr numCol="1">
            <a:normAutofit/>
          </a:bodyPr>
          <a:lstStyle/>
          <a:p>
            <a:pPr lvl="1" algn="just"/>
            <a:r>
              <a:rPr lang="en-US" sz="2000" dirty="0"/>
              <a:t>This chart illustrates the </a:t>
            </a:r>
            <a:r>
              <a:rPr lang="en-US" sz="2000" b="1" dirty="0"/>
              <a:t>distribution of restaurant listings across different countries</a:t>
            </a:r>
            <a:r>
              <a:rPr lang="en-US" sz="2000" dirty="0"/>
              <a:t> based on the Zomato dataset.</a:t>
            </a:r>
            <a:endParaRPr lang="en-IN" sz="2000" dirty="0"/>
          </a:p>
        </p:txBody>
      </p:sp>
      <p:graphicFrame>
        <p:nvGraphicFramePr>
          <p:cNvPr id="4" name="Chart 3">
            <a:extLst>
              <a:ext uri="{FF2B5EF4-FFF2-40B4-BE49-F238E27FC236}">
                <a16:creationId xmlns:a16="http://schemas.microsoft.com/office/drawing/2014/main" id="{84FB5A0B-D30E-4939-844D-E9C6F79B591F}"/>
              </a:ext>
            </a:extLst>
          </p:cNvPr>
          <p:cNvGraphicFramePr>
            <a:graphicFrameLocks/>
          </p:cNvGraphicFramePr>
          <p:nvPr>
            <p:extLst>
              <p:ext uri="{D42A27DB-BD31-4B8C-83A1-F6EECF244321}">
                <p14:modId xmlns:p14="http://schemas.microsoft.com/office/powerpoint/2010/main" val="863082063"/>
              </p:ext>
            </p:extLst>
          </p:nvPr>
        </p:nvGraphicFramePr>
        <p:xfrm>
          <a:off x="473222" y="1384300"/>
          <a:ext cx="7766538" cy="49657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3748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70CC6C9-ECA1-A23D-7631-67A7538B7AA5}"/>
              </a:ext>
            </a:extLst>
          </p:cNvPr>
          <p:cNvSpPr>
            <a:spLocks noGrp="1"/>
          </p:cNvSpPr>
          <p:nvPr>
            <p:ph type="title"/>
          </p:nvPr>
        </p:nvSpPr>
        <p:spPr>
          <a:xfrm>
            <a:off x="899160" y="657685"/>
            <a:ext cx="10393680" cy="956930"/>
          </a:xfrm>
        </p:spPr>
        <p:txBody>
          <a:bodyPr>
            <a:noAutofit/>
          </a:bodyPr>
          <a:lstStyle/>
          <a:p>
            <a:pPr algn="ctr"/>
            <a:r>
              <a:rPr lang="en-US" sz="4400" b="1" dirty="0">
                <a:latin typeface="+mn-lt"/>
              </a:rPr>
              <a:t>Customer Engagement by Country (Avg. Votes)</a:t>
            </a:r>
            <a:endParaRPr lang="en-IN" sz="4400" b="1" dirty="0">
              <a:latin typeface="+mn-lt"/>
              <a:ea typeface="Calibri" panose="020F0502020204030204" pitchFamily="34" charset="0"/>
              <a:cs typeface="Calibri" panose="020F0502020204030204" pitchFamily="34" charset="0"/>
            </a:endParaRPr>
          </a:p>
        </p:txBody>
      </p:sp>
      <p:sp>
        <p:nvSpPr>
          <p:cNvPr id="10" name="Text Placeholder 9">
            <a:extLst>
              <a:ext uri="{FF2B5EF4-FFF2-40B4-BE49-F238E27FC236}">
                <a16:creationId xmlns:a16="http://schemas.microsoft.com/office/drawing/2014/main" id="{E177C63A-C271-9895-17EA-5BDA175327A2}"/>
              </a:ext>
            </a:extLst>
          </p:cNvPr>
          <p:cNvSpPr>
            <a:spLocks noGrp="1"/>
          </p:cNvSpPr>
          <p:nvPr>
            <p:ph type="body" sz="half" idx="2"/>
          </p:nvPr>
        </p:nvSpPr>
        <p:spPr>
          <a:xfrm>
            <a:off x="8361680" y="2079356"/>
            <a:ext cx="3535680" cy="3264804"/>
          </a:xfrm>
        </p:spPr>
        <p:txBody>
          <a:bodyPr>
            <a:normAutofit/>
          </a:bodyPr>
          <a:lstStyle/>
          <a:p>
            <a:pPr algn="just"/>
            <a:r>
              <a:rPr lang="en-US" sz="2000" dirty="0"/>
              <a:t>This line chart shows the </a:t>
            </a:r>
            <a:r>
              <a:rPr lang="en-US" sz="2000" b="1" dirty="0"/>
              <a:t>average number of customer votes per restaurant</a:t>
            </a:r>
            <a:r>
              <a:rPr lang="en-US" sz="2000" dirty="0"/>
              <a:t> across different countries, which serves as a proxy for </a:t>
            </a:r>
            <a:r>
              <a:rPr lang="en-US" sz="2000" b="1" dirty="0"/>
              <a:t>customer engagement and review activity</a:t>
            </a:r>
            <a:r>
              <a:rPr lang="en-US" sz="2000" dirty="0"/>
              <a:t>.</a:t>
            </a:r>
          </a:p>
          <a:p>
            <a:pPr algn="just"/>
            <a:endParaRPr lang="en-IN" sz="2000" dirty="0"/>
          </a:p>
        </p:txBody>
      </p:sp>
      <p:graphicFrame>
        <p:nvGraphicFramePr>
          <p:cNvPr id="7" name="Chart 6">
            <a:extLst>
              <a:ext uri="{FF2B5EF4-FFF2-40B4-BE49-F238E27FC236}">
                <a16:creationId xmlns:a16="http://schemas.microsoft.com/office/drawing/2014/main" id="{FDBBA1FC-3CCC-4547-87B7-5E52BFDC9F3A}"/>
              </a:ext>
            </a:extLst>
          </p:cNvPr>
          <p:cNvGraphicFramePr>
            <a:graphicFrameLocks/>
          </p:cNvGraphicFramePr>
          <p:nvPr>
            <p:extLst>
              <p:ext uri="{D42A27DB-BD31-4B8C-83A1-F6EECF244321}">
                <p14:modId xmlns:p14="http://schemas.microsoft.com/office/powerpoint/2010/main" val="3382422252"/>
              </p:ext>
            </p:extLst>
          </p:nvPr>
        </p:nvGraphicFramePr>
        <p:xfrm>
          <a:off x="669800" y="1764396"/>
          <a:ext cx="6594600" cy="455612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90513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84EB6-7099-83B9-0D16-AAC87FBDD617}"/>
              </a:ext>
            </a:extLst>
          </p:cNvPr>
          <p:cNvSpPr>
            <a:spLocks noGrp="1"/>
          </p:cNvSpPr>
          <p:nvPr>
            <p:ph type="title"/>
          </p:nvPr>
        </p:nvSpPr>
        <p:spPr>
          <a:xfrm>
            <a:off x="707607" y="213359"/>
            <a:ext cx="10353762" cy="1178561"/>
          </a:xfrm>
        </p:spPr>
        <p:txBody>
          <a:bodyPr>
            <a:noAutofit/>
          </a:bodyPr>
          <a:lstStyle/>
          <a:p>
            <a:pPr algn="ctr"/>
            <a:r>
              <a:rPr lang="en-US" b="1" dirty="0">
                <a:latin typeface="+mn-lt"/>
              </a:rPr>
              <a:t>Average Dining Cost for Two – Country-wise Comparison</a:t>
            </a:r>
            <a:endParaRPr lang="en-IN" b="1" dirty="0">
              <a:latin typeface="+mn-lt"/>
              <a:cs typeface="Arial" panose="020B0604020202020204" pitchFamily="34" charset="0"/>
            </a:endParaRPr>
          </a:p>
        </p:txBody>
      </p:sp>
      <p:sp>
        <p:nvSpPr>
          <p:cNvPr id="4" name="Content Placeholder 3">
            <a:extLst>
              <a:ext uri="{FF2B5EF4-FFF2-40B4-BE49-F238E27FC236}">
                <a16:creationId xmlns:a16="http://schemas.microsoft.com/office/drawing/2014/main" id="{ACE5237B-8A0A-64B7-92BF-25A7C3FE8C4E}"/>
              </a:ext>
            </a:extLst>
          </p:cNvPr>
          <p:cNvSpPr>
            <a:spLocks noGrp="1"/>
          </p:cNvSpPr>
          <p:nvPr>
            <p:ph sz="half" idx="1"/>
          </p:nvPr>
        </p:nvSpPr>
        <p:spPr>
          <a:xfrm>
            <a:off x="8473440" y="1613732"/>
            <a:ext cx="3464677" cy="4540247"/>
          </a:xfrm>
        </p:spPr>
        <p:txBody>
          <a:bodyPr>
            <a:normAutofit/>
          </a:bodyPr>
          <a:lstStyle/>
          <a:p>
            <a:r>
              <a:rPr lang="en-GB" sz="2000" dirty="0"/>
              <a:t>This </a:t>
            </a:r>
            <a:r>
              <a:rPr lang="en-US" sz="2000" dirty="0"/>
              <a:t>chart highlights the </a:t>
            </a:r>
            <a:r>
              <a:rPr lang="en-US" sz="2000" b="1" dirty="0"/>
              <a:t>average cost of a meal for two people</a:t>
            </a:r>
            <a:r>
              <a:rPr lang="en-US" sz="2000" dirty="0"/>
              <a:t> across various countries, </a:t>
            </a:r>
            <a:r>
              <a:rPr lang="en-US" sz="2000" b="1" dirty="0"/>
              <a:t>converted into Indian Rupees (₹)</a:t>
            </a:r>
            <a:r>
              <a:rPr lang="en-US" sz="2000" dirty="0"/>
              <a:t> for comparison.</a:t>
            </a:r>
            <a:endParaRPr lang="en-GB" sz="2000" dirty="0"/>
          </a:p>
          <a:p>
            <a:r>
              <a:rPr lang="en-US" sz="2000" dirty="0"/>
              <a:t>This cost analysis is crucial for </a:t>
            </a:r>
            <a:r>
              <a:rPr lang="en-US" sz="2000" b="1" dirty="0"/>
              <a:t>financial planning</a:t>
            </a:r>
            <a:r>
              <a:rPr lang="en-US" sz="2000" dirty="0"/>
              <a:t>, </a:t>
            </a:r>
            <a:r>
              <a:rPr lang="en-US" sz="2000" b="1" dirty="0"/>
              <a:t>menu pricing</a:t>
            </a:r>
            <a:r>
              <a:rPr lang="en-US" sz="2000" dirty="0"/>
              <a:t>, and </a:t>
            </a:r>
            <a:r>
              <a:rPr lang="en-US" sz="2000" b="1" dirty="0"/>
              <a:t>identifying ideal customer segments</a:t>
            </a:r>
            <a:r>
              <a:rPr lang="en-US" sz="2000" dirty="0"/>
              <a:t> for each market.</a:t>
            </a:r>
            <a:endParaRPr lang="en-GB" sz="2000" dirty="0"/>
          </a:p>
        </p:txBody>
      </p:sp>
      <p:graphicFrame>
        <p:nvGraphicFramePr>
          <p:cNvPr id="7" name="Chart 6">
            <a:extLst>
              <a:ext uri="{FF2B5EF4-FFF2-40B4-BE49-F238E27FC236}">
                <a16:creationId xmlns:a16="http://schemas.microsoft.com/office/drawing/2014/main" id="{C4801E7C-0B18-4566-A83B-C07C279F94D0}"/>
              </a:ext>
            </a:extLst>
          </p:cNvPr>
          <p:cNvGraphicFramePr>
            <a:graphicFrameLocks/>
          </p:cNvGraphicFramePr>
          <p:nvPr>
            <p:extLst>
              <p:ext uri="{D42A27DB-BD31-4B8C-83A1-F6EECF244321}">
                <p14:modId xmlns:p14="http://schemas.microsoft.com/office/powerpoint/2010/main" val="3392896402"/>
              </p:ext>
            </p:extLst>
          </p:nvPr>
        </p:nvGraphicFramePr>
        <p:xfrm>
          <a:off x="330484" y="1584106"/>
          <a:ext cx="8021036" cy="494664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48140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3EFDF-5D87-9B76-5F09-9BA1D25BD539}"/>
              </a:ext>
            </a:extLst>
          </p:cNvPr>
          <p:cNvSpPr>
            <a:spLocks noGrp="1"/>
          </p:cNvSpPr>
          <p:nvPr>
            <p:ph type="title"/>
          </p:nvPr>
        </p:nvSpPr>
        <p:spPr>
          <a:xfrm>
            <a:off x="913795" y="65489"/>
            <a:ext cx="10364410" cy="1076325"/>
          </a:xfrm>
        </p:spPr>
        <p:txBody>
          <a:bodyPr>
            <a:noAutofit/>
          </a:bodyPr>
          <a:lstStyle/>
          <a:p>
            <a:pPr algn="ctr"/>
            <a:r>
              <a:rPr lang="en-GB" sz="2800" b="1" cap="none" dirty="0"/>
              <a:t>Countries where team can open new restaurants with lesser competition</a:t>
            </a:r>
            <a:endParaRPr lang="en-IN" sz="2800" b="1" cap="none" dirty="0"/>
          </a:p>
        </p:txBody>
      </p:sp>
      <p:sp>
        <p:nvSpPr>
          <p:cNvPr id="3" name="Content Placeholder 2">
            <a:extLst>
              <a:ext uri="{FF2B5EF4-FFF2-40B4-BE49-F238E27FC236}">
                <a16:creationId xmlns:a16="http://schemas.microsoft.com/office/drawing/2014/main" id="{B8E9A25F-02C0-62F8-A44B-2075D112EC4B}"/>
              </a:ext>
            </a:extLst>
          </p:cNvPr>
          <p:cNvSpPr>
            <a:spLocks noGrp="1"/>
          </p:cNvSpPr>
          <p:nvPr>
            <p:ph sz="half" idx="1"/>
          </p:nvPr>
        </p:nvSpPr>
        <p:spPr>
          <a:xfrm>
            <a:off x="839367" y="1754815"/>
            <a:ext cx="4553555" cy="3157427"/>
          </a:xfrm>
        </p:spPr>
        <p:txBody>
          <a:bodyPr>
            <a:normAutofit/>
          </a:bodyPr>
          <a:lstStyle/>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Most suitable countries for opening new restaurants</a:t>
            </a:r>
            <a:r>
              <a:rPr lang="en-US" sz="2000" dirty="0">
                <a:latin typeface="Calibri" panose="020F0502020204030204" pitchFamily="34" charset="0"/>
                <a:ea typeface="Calibri" panose="020F0502020204030204" pitchFamily="34" charset="0"/>
                <a:cs typeface="Calibri" panose="020F0502020204030204" pitchFamily="34" charset="0"/>
              </a:rPr>
              <a:t> based on criteria where total number of restaurants are less than 50, average price range is below 3. Countries with </a:t>
            </a:r>
            <a:r>
              <a:rPr lang="en-US" sz="2000" b="1" dirty="0">
                <a:latin typeface="Calibri" panose="020F0502020204030204" pitchFamily="34" charset="0"/>
                <a:ea typeface="Calibri" panose="020F0502020204030204" pitchFamily="34" charset="0"/>
                <a:cs typeface="Calibri" panose="020F0502020204030204" pitchFamily="34" charset="0"/>
              </a:rPr>
              <a:t>fewer listings indicate lesser competition</a:t>
            </a:r>
            <a:r>
              <a:rPr lang="en-US" sz="2000" dirty="0">
                <a:latin typeface="Calibri" panose="020F0502020204030204" pitchFamily="34" charset="0"/>
                <a:ea typeface="Calibri" panose="020F0502020204030204" pitchFamily="34" charset="0"/>
                <a:cs typeface="Calibri" panose="020F0502020204030204" pitchFamily="34" charset="0"/>
              </a:rPr>
              <a:t>, making them ideal for market entry and growth. Countries with fewer restaurants: Countries with shorter bars, like </a:t>
            </a:r>
            <a:r>
              <a:rPr lang="en-US" sz="2000" b="1" dirty="0">
                <a:latin typeface="Calibri" panose="020F0502020204030204" pitchFamily="34" charset="0"/>
                <a:ea typeface="Calibri" panose="020F0502020204030204" pitchFamily="34" charset="0"/>
                <a:cs typeface="Calibri" panose="020F0502020204030204" pitchFamily="34" charset="0"/>
              </a:rPr>
              <a:t>Australia, Canada, Turkey, Indonesia and Sri Lanka</a:t>
            </a:r>
            <a:r>
              <a:rPr lang="en-US" sz="2000" dirty="0">
                <a:latin typeface="Calibri" panose="020F0502020204030204" pitchFamily="34" charset="0"/>
                <a:ea typeface="Calibri" panose="020F0502020204030204" pitchFamily="34" charset="0"/>
                <a:cs typeface="Calibri" panose="020F0502020204030204" pitchFamily="34" charset="0"/>
              </a:rPr>
              <a:t> indicate lower restaurant densities</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12C0D8F6-C8AD-B9CD-A385-A7176184C0AE}"/>
              </a:ext>
            </a:extLst>
          </p:cNvPr>
          <p:cNvPicPr>
            <a:picLocks noChangeAspect="1"/>
          </p:cNvPicPr>
          <p:nvPr/>
        </p:nvPicPr>
        <p:blipFill>
          <a:blip r:embed="rId2"/>
          <a:stretch>
            <a:fillRect/>
          </a:stretch>
        </p:blipFill>
        <p:spPr>
          <a:xfrm>
            <a:off x="7224382" y="1754815"/>
            <a:ext cx="4640301" cy="4535973"/>
          </a:xfrm>
          <a:prstGeom prst="rect">
            <a:avLst/>
          </a:prstGeom>
        </p:spPr>
      </p:pic>
    </p:spTree>
    <p:extLst>
      <p:ext uri="{BB962C8B-B14F-4D97-AF65-F5344CB8AC3E}">
        <p14:creationId xmlns:p14="http://schemas.microsoft.com/office/powerpoint/2010/main" val="1148807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A035B-95B8-BC32-B7F1-EB446D60230A}"/>
              </a:ext>
            </a:extLst>
          </p:cNvPr>
          <p:cNvSpPr>
            <a:spLocks noGrp="1"/>
          </p:cNvSpPr>
          <p:nvPr>
            <p:ph type="title"/>
          </p:nvPr>
        </p:nvSpPr>
        <p:spPr>
          <a:xfrm>
            <a:off x="734502" y="0"/>
            <a:ext cx="10353762" cy="1261872"/>
          </a:xfrm>
        </p:spPr>
        <p:txBody>
          <a:bodyPr>
            <a:noAutofit/>
          </a:bodyPr>
          <a:lstStyle/>
          <a:p>
            <a:pPr algn="ctr"/>
            <a:r>
              <a:rPr lang="en-US" b="1" dirty="0">
                <a:latin typeface="+mn-lt"/>
              </a:rPr>
              <a:t>Top 10 Most Popular Cuisines Among Restaurants</a:t>
            </a:r>
            <a:endParaRPr lang="en-IN" b="1" dirty="0">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55ADF77A-8EA7-7050-ECAD-4BEEF894F4ED}"/>
              </a:ext>
            </a:extLst>
          </p:cNvPr>
          <p:cNvSpPr>
            <a:spLocks noGrp="1"/>
          </p:cNvSpPr>
          <p:nvPr>
            <p:ph sz="half" idx="1"/>
          </p:nvPr>
        </p:nvSpPr>
        <p:spPr>
          <a:xfrm>
            <a:off x="8534400" y="1883448"/>
            <a:ext cx="3441258" cy="4437249"/>
          </a:xfrm>
        </p:spPr>
        <p:txBody>
          <a:bodyPr>
            <a:normAutofit fontScale="77500" lnSpcReduction="20000"/>
          </a:bodyPr>
          <a:lstStyle/>
          <a:p>
            <a:r>
              <a:rPr lang="en-GB" dirty="0"/>
              <a:t>Based on the visualization, North Indian, Chinese, Fast Food, Mughlai, and Café are among the top 10 cuisines, favoured for their high ratings and frequent presence.</a:t>
            </a:r>
          </a:p>
          <a:p>
            <a:endParaRPr lang="en-GB" dirty="0"/>
          </a:p>
          <a:p>
            <a:r>
              <a:rPr lang="en-GB" dirty="0"/>
              <a:t>For our optimized countries, the most recommendable cuisines to include in our menu are Cafe, Indian, American, Italian, Chinese, and Dessert.</a:t>
            </a:r>
            <a:endParaRPr lang="en-IN" dirty="0"/>
          </a:p>
        </p:txBody>
      </p:sp>
      <p:graphicFrame>
        <p:nvGraphicFramePr>
          <p:cNvPr id="7" name="Chart 6">
            <a:extLst>
              <a:ext uri="{FF2B5EF4-FFF2-40B4-BE49-F238E27FC236}">
                <a16:creationId xmlns:a16="http://schemas.microsoft.com/office/drawing/2014/main" id="{F2F7E72F-8A45-473E-B877-25AE21A23530}"/>
              </a:ext>
            </a:extLst>
          </p:cNvPr>
          <p:cNvGraphicFramePr>
            <a:graphicFrameLocks/>
          </p:cNvGraphicFramePr>
          <p:nvPr>
            <p:extLst>
              <p:ext uri="{D42A27DB-BD31-4B8C-83A1-F6EECF244321}">
                <p14:modId xmlns:p14="http://schemas.microsoft.com/office/powerpoint/2010/main" val="85730338"/>
              </p:ext>
            </p:extLst>
          </p:nvPr>
        </p:nvGraphicFramePr>
        <p:xfrm>
          <a:off x="734502" y="1886604"/>
          <a:ext cx="6814378" cy="392491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659556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5758C-4A58-11D9-1B0B-F7B303ECFFFF}"/>
              </a:ext>
            </a:extLst>
          </p:cNvPr>
          <p:cNvSpPr>
            <a:spLocks noGrp="1"/>
          </p:cNvSpPr>
          <p:nvPr>
            <p:ph type="title"/>
          </p:nvPr>
        </p:nvSpPr>
        <p:spPr>
          <a:xfrm>
            <a:off x="839788" y="300672"/>
            <a:ext cx="10722292" cy="1376680"/>
          </a:xfrm>
        </p:spPr>
        <p:txBody>
          <a:bodyPr>
            <a:noAutofit/>
          </a:bodyPr>
          <a:lstStyle/>
          <a:p>
            <a:pPr algn="ctr"/>
            <a:r>
              <a:rPr lang="en-US" sz="4400" b="1" dirty="0">
                <a:latin typeface="+mn-lt"/>
              </a:rPr>
              <a:t>Comparison of Average Price Range and Average Ratings by Country</a:t>
            </a:r>
            <a:endParaRPr lang="en-IN" sz="4400" b="1" dirty="0">
              <a:latin typeface="+mn-lt"/>
            </a:endParaRPr>
          </a:p>
        </p:txBody>
      </p:sp>
      <p:graphicFrame>
        <p:nvGraphicFramePr>
          <p:cNvPr id="5" name="Picture Placeholder 4">
            <a:extLst>
              <a:ext uri="{FF2B5EF4-FFF2-40B4-BE49-F238E27FC236}">
                <a16:creationId xmlns:a16="http://schemas.microsoft.com/office/drawing/2014/main" id="{58C27C6A-D380-2EBE-1859-16F8C8AA15FF}"/>
              </a:ext>
            </a:extLst>
          </p:cNvPr>
          <p:cNvGraphicFramePr>
            <a:graphicFrameLocks noGrp="1"/>
          </p:cNvGraphicFramePr>
          <p:nvPr>
            <p:ph type="pic" idx="1"/>
            <p:extLst>
              <p:ext uri="{D42A27DB-BD31-4B8C-83A1-F6EECF244321}">
                <p14:modId xmlns:p14="http://schemas.microsoft.com/office/powerpoint/2010/main" val="2749453177"/>
              </p:ext>
            </p:extLst>
          </p:nvPr>
        </p:nvGraphicFramePr>
        <p:xfrm>
          <a:off x="995680" y="1783080"/>
          <a:ext cx="10566400" cy="477424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468838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139DD-8C24-9EAD-BF25-CBC08EC809AB}"/>
              </a:ext>
            </a:extLst>
          </p:cNvPr>
          <p:cNvSpPr>
            <a:spLocks noGrp="1"/>
          </p:cNvSpPr>
          <p:nvPr>
            <p:ph type="title"/>
          </p:nvPr>
        </p:nvSpPr>
        <p:spPr>
          <a:xfrm>
            <a:off x="797253" y="0"/>
            <a:ext cx="10353762" cy="1261872"/>
          </a:xfrm>
        </p:spPr>
        <p:txBody>
          <a:bodyPr>
            <a:noAutofit/>
          </a:bodyPr>
          <a:lstStyle/>
          <a:p>
            <a:pPr algn="ctr"/>
            <a:r>
              <a:rPr lang="en-GB" b="1" dirty="0">
                <a:latin typeface="+mn-lt"/>
                <a:cs typeface="Arial" panose="020B0604020202020204" pitchFamily="34" charset="0"/>
              </a:rPr>
              <a:t>Table Booking Recommendations from Country-wide Data</a:t>
            </a:r>
            <a:endParaRPr lang="en-IN" b="1" dirty="0">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1F1FCFC8-3E56-516C-E378-9D985F58D6AA}"/>
              </a:ext>
            </a:extLst>
          </p:cNvPr>
          <p:cNvSpPr>
            <a:spLocks noGrp="1"/>
          </p:cNvSpPr>
          <p:nvPr>
            <p:ph sz="half" idx="1"/>
          </p:nvPr>
        </p:nvSpPr>
        <p:spPr>
          <a:xfrm>
            <a:off x="624533" y="1653560"/>
            <a:ext cx="4790747" cy="4574520"/>
          </a:xfrm>
        </p:spPr>
        <p:txBody>
          <a:bodyPr>
            <a:noAutofit/>
          </a:bodyPr>
          <a:lstStyle/>
          <a:p>
            <a:pPr algn="just"/>
            <a:r>
              <a:rPr lang="en-GB" sz="2000" dirty="0"/>
              <a:t>Among the records, 1,158 entries (12%) offer a table booking option, with limited adoption across countries.</a:t>
            </a:r>
          </a:p>
          <a:p>
            <a:pPr algn="just"/>
            <a:endParaRPr lang="en-GB" sz="2000" dirty="0"/>
          </a:p>
          <a:p>
            <a:pPr algn="just"/>
            <a:r>
              <a:rPr lang="en-GB" sz="2000" dirty="0"/>
              <a:t>Similar to online delivery, providing table booking services is associated with higher ratings, reflecting positive customer feedback.</a:t>
            </a:r>
          </a:p>
          <a:p>
            <a:pPr algn="just"/>
            <a:endParaRPr lang="en-GB" sz="2000" dirty="0"/>
          </a:p>
          <a:p>
            <a:pPr algn="just"/>
            <a:r>
              <a:rPr lang="en-GB" sz="2000" dirty="0"/>
              <a:t>Countries like Qatar, the United Arab Emirates, and South Africa have notable support for table booking, contributing to their strong ratings.</a:t>
            </a:r>
            <a:endParaRPr lang="en-IN" sz="2000" dirty="0"/>
          </a:p>
        </p:txBody>
      </p:sp>
      <p:graphicFrame>
        <p:nvGraphicFramePr>
          <p:cNvPr id="6" name="Chart 5">
            <a:extLst>
              <a:ext uri="{FF2B5EF4-FFF2-40B4-BE49-F238E27FC236}">
                <a16:creationId xmlns:a16="http://schemas.microsoft.com/office/drawing/2014/main" id="{2AE64204-83F5-47A6-91CE-045E4E9BBDC9}"/>
              </a:ext>
            </a:extLst>
          </p:cNvPr>
          <p:cNvGraphicFramePr>
            <a:graphicFrameLocks/>
          </p:cNvGraphicFramePr>
          <p:nvPr>
            <p:extLst>
              <p:ext uri="{D42A27DB-BD31-4B8C-83A1-F6EECF244321}">
                <p14:modId xmlns:p14="http://schemas.microsoft.com/office/powerpoint/2010/main" val="2079956765"/>
              </p:ext>
            </p:extLst>
          </p:nvPr>
        </p:nvGraphicFramePr>
        <p:xfrm>
          <a:off x="5689600" y="1653560"/>
          <a:ext cx="6106161" cy="457452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5589147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11A39-3053-831C-E45F-01D7E0409DD5}"/>
              </a:ext>
            </a:extLst>
          </p:cNvPr>
          <p:cNvSpPr>
            <a:spLocks noGrp="1"/>
          </p:cNvSpPr>
          <p:nvPr>
            <p:ph type="title"/>
          </p:nvPr>
        </p:nvSpPr>
        <p:spPr>
          <a:xfrm>
            <a:off x="913795" y="0"/>
            <a:ext cx="10353762" cy="1261872"/>
          </a:xfrm>
        </p:spPr>
        <p:txBody>
          <a:bodyPr>
            <a:noAutofit/>
          </a:bodyPr>
          <a:lstStyle/>
          <a:p>
            <a:pPr algn="ctr"/>
            <a:r>
              <a:rPr lang="en-GB" b="1" cap="none" dirty="0">
                <a:latin typeface="Calibri" panose="020F0502020204030204" pitchFamily="34" charset="0"/>
                <a:ea typeface="Calibri" panose="020F0502020204030204" pitchFamily="34" charset="0"/>
                <a:cs typeface="Calibri" panose="020F0502020204030204" pitchFamily="34" charset="0"/>
              </a:rPr>
              <a:t>Online delivery recommendations from country-wide data</a:t>
            </a:r>
            <a:endParaRPr lang="en-IN" b="1" cap="none" dirty="0">
              <a:latin typeface="Calibri" panose="020F0502020204030204" pitchFamily="34" charset="0"/>
              <a:ea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BEEAB7DB-0621-AC96-3D2A-C2C5D066F427}"/>
              </a:ext>
            </a:extLst>
          </p:cNvPr>
          <p:cNvSpPr>
            <a:spLocks noGrp="1"/>
          </p:cNvSpPr>
          <p:nvPr>
            <p:ph sz="half" idx="1"/>
          </p:nvPr>
        </p:nvSpPr>
        <p:spPr>
          <a:xfrm>
            <a:off x="7345680" y="1647354"/>
            <a:ext cx="3921878" cy="4051769"/>
          </a:xfrm>
        </p:spPr>
        <p:txBody>
          <a:bodyPr>
            <a:normAutofit fontScale="92500" lnSpcReduction="10000"/>
          </a:bodyPr>
          <a:lstStyle/>
          <a:p>
            <a:r>
              <a:rPr lang="en-GB" sz="2000" dirty="0"/>
              <a:t>Out of the total records, 2,451 entries (around 26%) offer an online booking option, with limited support across countries.</a:t>
            </a:r>
          </a:p>
          <a:p>
            <a:endParaRPr lang="en-GB" sz="2000" dirty="0"/>
          </a:p>
          <a:p>
            <a:r>
              <a:rPr lang="en-GB" sz="2000" dirty="0"/>
              <a:t>Implementing or enhancing online delivery services tends to result in higher ratings, indicating positive customer response to this feature.</a:t>
            </a:r>
          </a:p>
          <a:p>
            <a:endParaRPr lang="en-GB" sz="2000" dirty="0"/>
          </a:p>
          <a:p>
            <a:r>
              <a:rPr lang="en-GB" sz="2000" dirty="0"/>
              <a:t>Notably, in the United Arab Emirates, 47% of the entries (28 records) support online delivery, which correlates with good ratings.</a:t>
            </a:r>
            <a:endParaRPr lang="en-IN" sz="2000" dirty="0"/>
          </a:p>
        </p:txBody>
      </p:sp>
      <p:graphicFrame>
        <p:nvGraphicFramePr>
          <p:cNvPr id="7" name="Chart 6">
            <a:extLst>
              <a:ext uri="{FF2B5EF4-FFF2-40B4-BE49-F238E27FC236}">
                <a16:creationId xmlns:a16="http://schemas.microsoft.com/office/drawing/2014/main" id="{2206AD08-7C69-4B07-A7FB-8F2CE2B356A6}"/>
              </a:ext>
            </a:extLst>
          </p:cNvPr>
          <p:cNvGraphicFramePr>
            <a:graphicFrameLocks/>
          </p:cNvGraphicFramePr>
          <p:nvPr>
            <p:extLst>
              <p:ext uri="{D42A27DB-BD31-4B8C-83A1-F6EECF244321}">
                <p14:modId xmlns:p14="http://schemas.microsoft.com/office/powerpoint/2010/main" val="290022322"/>
              </p:ext>
            </p:extLst>
          </p:nvPr>
        </p:nvGraphicFramePr>
        <p:xfrm>
          <a:off x="1391920" y="1535594"/>
          <a:ext cx="5100320" cy="433688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3875614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22DBB-4C68-5AA2-C7EB-FFC555201E1E}"/>
              </a:ext>
            </a:extLst>
          </p:cNvPr>
          <p:cNvSpPr>
            <a:spLocks noGrp="1"/>
          </p:cNvSpPr>
          <p:nvPr>
            <p:ph type="title"/>
          </p:nvPr>
        </p:nvSpPr>
        <p:spPr>
          <a:xfrm>
            <a:off x="809020" y="180975"/>
            <a:ext cx="10353762" cy="685800"/>
          </a:xfrm>
        </p:spPr>
        <p:txBody>
          <a:bodyPr>
            <a:noAutofit/>
          </a:bodyPr>
          <a:lstStyle/>
          <a:p>
            <a:pPr algn="ctr"/>
            <a:r>
              <a:rPr lang="en-IN" b="1" cap="none" dirty="0">
                <a:latin typeface="Calibri" panose="020F0502020204030204" pitchFamily="34" charset="0"/>
                <a:ea typeface="Calibri" panose="020F0502020204030204" pitchFamily="34" charset="0"/>
                <a:cs typeface="Calibri" panose="020F0502020204030204" pitchFamily="34" charset="0"/>
              </a:rPr>
              <a:t>Dashboard</a:t>
            </a:r>
          </a:p>
        </p:txBody>
      </p:sp>
      <p:pic>
        <p:nvPicPr>
          <p:cNvPr id="6" name="Picture 5">
            <a:extLst>
              <a:ext uri="{FF2B5EF4-FFF2-40B4-BE49-F238E27FC236}">
                <a16:creationId xmlns:a16="http://schemas.microsoft.com/office/drawing/2014/main" id="{16E11385-F69B-B49E-2256-90E569799638}"/>
              </a:ext>
            </a:extLst>
          </p:cNvPr>
          <p:cNvPicPr>
            <a:picLocks noChangeAspect="1"/>
          </p:cNvPicPr>
          <p:nvPr/>
        </p:nvPicPr>
        <p:blipFill>
          <a:blip r:embed="rId2"/>
          <a:stretch>
            <a:fillRect/>
          </a:stretch>
        </p:blipFill>
        <p:spPr>
          <a:xfrm>
            <a:off x="361149" y="866775"/>
            <a:ext cx="11469701" cy="5506218"/>
          </a:xfrm>
          <a:prstGeom prst="rect">
            <a:avLst/>
          </a:prstGeom>
        </p:spPr>
      </p:pic>
    </p:spTree>
    <p:extLst>
      <p:ext uri="{BB962C8B-B14F-4D97-AF65-F5344CB8AC3E}">
        <p14:creationId xmlns:p14="http://schemas.microsoft.com/office/powerpoint/2010/main" val="23939476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5BE41-9E2E-D5F3-8B52-B0305CA70C78}"/>
              </a:ext>
            </a:extLst>
          </p:cNvPr>
          <p:cNvSpPr>
            <a:spLocks noGrp="1"/>
          </p:cNvSpPr>
          <p:nvPr>
            <p:ph type="title"/>
          </p:nvPr>
        </p:nvSpPr>
        <p:spPr>
          <a:xfrm>
            <a:off x="3238056" y="628650"/>
            <a:ext cx="4553555" cy="1261872"/>
          </a:xfrm>
        </p:spPr>
        <p:txBody>
          <a:bodyPr/>
          <a:lstStyle/>
          <a:p>
            <a:pPr algn="ctr"/>
            <a:r>
              <a:rPr lang="en-US" b="1" cap="none" dirty="0">
                <a:latin typeface="Calibri" panose="020F0502020204030204" pitchFamily="34" charset="0"/>
                <a:ea typeface="Calibri" panose="020F0502020204030204" pitchFamily="34" charset="0"/>
                <a:cs typeface="Calibri" panose="020F0502020204030204" pitchFamily="34" charset="0"/>
              </a:rPr>
              <a:t>Conclusion</a:t>
            </a:r>
            <a:endParaRPr lang="en-IN" cap="none"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D1FA75C7-E74B-1E47-3F4C-A12FA0D2DCE8}"/>
              </a:ext>
            </a:extLst>
          </p:cNvPr>
          <p:cNvSpPr>
            <a:spLocks noGrp="1"/>
          </p:cNvSpPr>
          <p:nvPr>
            <p:ph sz="half" idx="1"/>
          </p:nvPr>
        </p:nvSpPr>
        <p:spPr>
          <a:xfrm>
            <a:off x="1047749" y="2076450"/>
            <a:ext cx="10458451" cy="3622671"/>
          </a:xfrm>
        </p:spPr>
        <p:txBody>
          <a:bodyPr>
            <a:normAutofit/>
          </a:bodyPr>
          <a:lstStyle/>
          <a:p>
            <a:pPr marL="0" indent="0" algn="just">
              <a:buNone/>
            </a:pPr>
            <a:r>
              <a:rPr lang="en-US" sz="2000" dirty="0">
                <a:latin typeface="Calibri" panose="020F0502020204030204" pitchFamily="34" charset="0"/>
                <a:ea typeface="Calibri" panose="020F0502020204030204" pitchFamily="34" charset="0"/>
                <a:cs typeface="Calibri" panose="020F0502020204030204" pitchFamily="34" charset="0"/>
              </a:rPr>
              <a:t>In conclusion, our analysis of Zomato restaurant data reveals promising opportunities for strategic expansion across the globe. By targeting regions with high demand, catering to specific demographic preferences, and capitalizing on competitive advantages, we can confidently recommend the opening of new restaurants. This initiative not only enhances market presence but also delivers exceptional dining experiences, driving sustainable growth for Zomato and enriching the global culinary landscape.</a:t>
            </a:r>
            <a:endParaRPr lang="en-IN" sz="2000" dirty="0">
              <a:latin typeface="Calibri" panose="020F0502020204030204" pitchFamily="34" charset="0"/>
              <a:ea typeface="Calibri" panose="020F0502020204030204" pitchFamily="34" charset="0"/>
              <a:cs typeface="Calibri" panose="020F0502020204030204" pitchFamily="34" charset="0"/>
            </a:endParaRPr>
          </a:p>
          <a:p>
            <a:endParaRPr lang="en-IN" dirty="0"/>
          </a:p>
        </p:txBody>
      </p:sp>
    </p:spTree>
    <p:extLst>
      <p:ext uri="{BB962C8B-B14F-4D97-AF65-F5344CB8AC3E}">
        <p14:creationId xmlns:p14="http://schemas.microsoft.com/office/powerpoint/2010/main" val="34052399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2955</TotalTime>
  <Words>1292</Words>
  <Application>Microsoft Office PowerPoint</Application>
  <PresentationFormat>Widescreen</PresentationFormat>
  <Paragraphs>96</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Lato</vt:lpstr>
      <vt:lpstr>Wingdings</vt:lpstr>
      <vt:lpstr>Office Theme</vt:lpstr>
      <vt:lpstr>Zomato Restaurant Analysis</vt:lpstr>
      <vt:lpstr>Introduction to Zomato</vt:lpstr>
      <vt:lpstr>Project Aim</vt:lpstr>
      <vt:lpstr>Data Overview</vt:lpstr>
      <vt:lpstr>Key Statistics from Zomato Global Analysis</vt:lpstr>
      <vt:lpstr>Data Cleaning and Processing</vt:lpstr>
      <vt:lpstr>Methodology</vt:lpstr>
      <vt:lpstr>      Year-wise Growth of Restaurant Listings </vt:lpstr>
      <vt:lpstr>PowerPoint Presentation</vt:lpstr>
      <vt:lpstr>Customer Engagement by Country (Avg. Votes)</vt:lpstr>
      <vt:lpstr>Average Dining Cost for Two – Country-wise Comparison</vt:lpstr>
      <vt:lpstr>Countries where team can open new restaurants with lesser competition</vt:lpstr>
      <vt:lpstr>Top 10 Most Popular Cuisines Among Restaurants</vt:lpstr>
      <vt:lpstr>Comparison of Average Price Range and Average Ratings by Country</vt:lpstr>
      <vt:lpstr>Table Booking Recommendations from Country-wide Data</vt:lpstr>
      <vt:lpstr>Online delivery recommendations from country-wide data</vt:lpstr>
      <vt:lpstr>Dashboard</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Saran Arun Yogan</dc:creator>
  <cp:lastModifiedBy>OMKAR GUPTA</cp:lastModifiedBy>
  <cp:revision>21</cp:revision>
  <dcterms:created xsi:type="dcterms:W3CDTF">2024-08-13T14:45:26Z</dcterms:created>
  <dcterms:modified xsi:type="dcterms:W3CDTF">2025-12-10T13:54:22Z</dcterms:modified>
</cp:coreProperties>
</file>